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78995c3-9069-a0d3-b7c5-aabb429c4b56}">
          <p14:sldIdLst>
            <p14:sldId id="256"/>
          </p14:sldIdLst>
        </p14:section>
        <p14:section name="Besoin" id="{9eb6189e-3785-2f82-c3dc-f17cef2cf094}">
          <p14:sldIdLst>
            <p14:sldId id="257"/>
          </p14:sldIdLst>
        </p14:section>
        <p14:section name="Architecture" id="{760bb579-9389-72b8-9ff4-496fd90406f3}">
          <p14:sldIdLst>
            <p14:sldId id="258"/>
            <p14:sldId id="259"/>
          </p14:sldIdLst>
        </p14:section>
        <p14:section name="Démo" id="{a79e7160-3d1c-8c3e-ee9b-a71bfda08ac5}">
          <p14:sldIdLst>
            <p14:sldId id="260"/>
          </p14:sldIdLst>
        </p14:section>
        <p14:section name="Production" id="{d89ed5e8-e21b-a3d7-7c7a-ddb8677cc283}">
          <p14:sldIdLst>
            <p14:sldId id="261"/>
            <p14:sldId id="262"/>
            <p14:sldId id="263"/>
            <p14:sldId id="264"/>
          </p14:sldIdLst>
        </p14:section>
        <p14:section name="Suite" id="{97adfe78-06f7-55c0-75da-b7caf8faa72d}">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Coût mensuel (€)</c:v>
                </c:pt>
              </c:strCache>
            </c:strRef>
          </c:tx>
          <c:spPr>
            <a:solidFill>
              <a:srgbClr val="A4332C"/>
            </a:solidFill>
            <a:effectLst/>
          </c:spPr>
          <c:invertIfNegative val="0"/>
          <c:dLbls>
            <c:numFmt formatCode="#,##0" sourceLinked="0"/>
            <c:txPr>
              <a:bodyPr/>
              <a:lstStyle/>
              <a:p>
                <a:pPr>
                  <a:defRPr b="0" i="0" strike="noStrike" sz="1300" u="none">
                    <a:solidFill>
                      <a:srgbClr val="152B3A"/>
                    </a:solidFill>
                    <a:latin typeface="+mn-lt"/>
                  </a:defRPr>
                </a:pPr>
              </a:p>
            </c:txPr>
            <c:showLegendKey val="0"/>
            <c:showVal val="1"/>
            <c:showCatName val="0"/>
            <c:showSerName val="0"/>
            <c:showPercent val="0"/>
            <c:showBubbleSize val="0"/>
            <c:showLeaderLines val="0"/>
          </c:dLbls>
          <c:dPt>
            <c:idx val="0"/>
            <c:invertIfNegative val="0"/>
            <c:bubble3D val="0"/>
            <c:spPr>
              <a:solidFill>
                <a:srgbClr val="A4332C"/>
              </a:solidFill>
              <a:effectLst/>
            </c:spPr>
          </c:dPt>
          <c:dPt>
            <c:idx val="1"/>
            <c:invertIfNegative val="0"/>
            <c:bubble3D val="0"/>
            <c:spPr>
              <a:solidFill>
                <a:srgbClr val="2F7A4F"/>
              </a:solidFill>
              <a:effectLst/>
            </c:spPr>
          </c:dPt>
          <c:cat>
            <c:multiLvlStrRef>
              <c:f>Sheet1!$A$2:$A$3</c:f>
              <c:multiLvlStrCache>
                <c:ptCount val="2"/>
                <c:lvl>
                  <c:pt idx="0">
                    <c:v>Processus manuel</c:v>
                  </c:pt>
                  <c:pt idx="1">
                    <c:v>Plateforme (production)</c:v>
                  </c:pt>
                </c:lvl>
              </c:multiLvlStrCache>
            </c:multiLvlStrRef>
          </c:cat>
          <c:val>
            <c:numRef>
              <c:f>Sheet1!$B$2:$B$3</c:f>
              <c:numCache>
                <c:formatCode>General</c:formatCode>
                <c:ptCount val="2"/>
                <c:pt idx="0">
                  <c:v>701</c:v>
                </c:pt>
                <c:pt idx="1">
                  <c:v>45</c:v>
                </c:pt>
              </c:numCache>
            </c:numRef>
          </c:val>
        </c:ser>
        <c:dLbls>
          <c:numFmt formatCode="#,##0" sourceLinked="0"/>
          <c:txPr>
            <a:bodyPr/>
            <a:lstStyle/>
            <a:p>
              <a:pPr>
                <a:defRPr b="0" i="0" strike="noStrike" sz="1300" u="none">
                  <a:solidFill>
                    <a:srgbClr val="152B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68"/>
                </a:solidFill>
                <a:latin typeface="+mn-lt"/>
              </a:defRPr>
            </a:pPr>
            <a:endParaRPr lang="en-US"/>
          </a:p>
        </c:txPr>
        <c:crossAx val="2094734552"/>
        <c:crosses val="autoZero"/>
        <c:auto val="1"/>
        <c:lblAlgn val="ctr"/>
        <c:noMultiLvlLbl val="1"/>
      </c:catAx>
      <c:valAx>
        <c:axId val="2094734552"/>
        <c:scaling>
          <c:orientation val="minMax"/>
          <c:max val="800"/>
        </c:scaling>
        <c:delete val="0"/>
        <c:axPos val="l"/>
        <c:majorGridlines>
          <c:spPr>
            <a:ln w="12700" cap="flat">
              <a:solidFill>
                <a:srgbClr val="E4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la plateforme interne de gestion des demandes RH de NovaCorp : congés, télétravail, matériel, formation. Projet réalisé seul, validé avec l'enseignant.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 tout passe par e-mail, le RH recopie dans un tableur, le manager répond quand il y pense. Personne ne sait combien de temps ça prend. Ces chiffres sont des hypothèses assumées — je le dis clairement dans le dossier — parce qu'il n'y avait rien à mesurer.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briques imposées par le cahier des charges. Le choix que je défends : toute la logique métier est dans la base. n8n orchestre, il ne décide pas. C'est ce qui garantit qu'un changement de règle ne laisse pas un workflow désynchronisé.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peux changer un seuil en une ligne SQL et toute la chaîne suit, sans toucher à n8n ni au front. Et le circuit est recopié sur la demande au moment du dépôt : une demande en cours ne change pas de parcours si la politique évolue.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ce que je vais montrer en direct. Je commence par une demande courte, à un seul valideur : c'est le scénario le moins risqué. Si tout va bien j'enchaîne sur une demande longue, qui déclenche le circuit à deux niveaux et la mise en copie des 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un fichier SQL qui rejoue les politiques par persona et affiche ce que chacun voit. Les tests négatifs sont tous écrits : un salarié ne peut pas valider sa propre demande, un manager ne peut pas valider pour une autre équipe, personne ne peut se promouvoir, et l'historique est en écriture seule.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choix d'architecture dont je suis le plus satisfaite. Tout ce que le cahier des charges demande de vérifier est de l'arithmétique : je le fais en SQL. Le modèle reçoit le résultat et rédige. Moins de tokens, testable, et le pire qu'il puisse faire est une phrase maladroite.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n'est pas low-code ou code, mais où placer la frontière. Ce qui doit être juste à tous les coups est en SQL. Ce qui change souvent est dans n8n. Et je sais déjà ce que je réécrirais en premier.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701 euros reposent sur mon hypothèse de départ, assumée comme telle. Le coût de la plateforme en production est une estimation d'offres publiques. Le point important : la brique IA, qu'on imagine coûteuse, est négligeable parce que je lui demande peu.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préfère annoncer ces limites plutôt que les laisser découvrir. Les trois premières sont des manques de temps, pas de conception. La quatrième est le vrai plan de bascule : la machine à états de validation est ce qui mérite d'être réécrit en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résumer : la chaîne complète fonctionne sans intervention manuelle, les règles métier sont des données, la sécurité est vérifiée par la base plutôt que par l'application, et la décision reste humaine. Je suis prête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43032"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749040"/>
            <a:ext cx="10543032" cy="1463040"/>
          </a:xfrm>
          <a:prstGeom prst="rect">
            <a:avLst/>
          </a:prstGeom>
          <a:noFill/>
          <a:ln/>
        </p:spPr>
        <p:txBody>
          <a:bodyPr wrap="square" rtlCol="0"/>
          <a:lstStyle>
            <a:lvl1pPr algn="l" indent="0" marL="0">
              <a:buNone/>
              <a:defRPr lang="en-US" sz="1600" dirty="0">
                <a:solidFill>
                  <a:srgbClr val="A8B4BE"/>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822960" y="635508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Plateforme de gestion des demandes RH — NovaCorp</a:t>
            </a:r>
            <a:endParaRPr lang="en-US" sz="10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43032" cy="1371600"/>
          </a:xfrm>
          <a:prstGeom prst="rect">
            <a:avLst/>
          </a:prstGeom>
          <a:noFill/>
          <a:ln/>
        </p:spPr>
        <p:txBody>
          <a:bodyPr wrap="square" rtlCol="0"/>
          <a:lstStyle/>
          <a:p>
            <a:pPr algn="l" indent="0" marL="0">
              <a:buNone/>
            </a:pPr>
            <a:r>
              <a:rPr lang="en-US" sz="4000" b="1" dirty="0">
                <a:solidFill>
                  <a:schemeClr val="bg1"/>
                </a:solidFill>
              </a:rPr>
              <a:t>Plateforme de gestion</a:t>
            </a:r>
            <a:endParaRPr lang="en-US" sz="4000" dirty="0"/>
          </a:p>
          <a:p>
            <a:pPr algn="l" indent="0" marL="0">
              <a:buNone/>
            </a:pPr>
            <a:r>
              <a:rPr lang="en-US" sz="4000" b="1" dirty="0">
                <a:solidFill>
                  <a:schemeClr val="bg1"/>
                </a:solidFill>
              </a:rPr>
              <a:t>des demandes RH</a:t>
            </a:r>
            <a:endParaRPr lang="en-US" sz="4000" dirty="0"/>
          </a:p>
        </p:txBody>
      </p:sp>
      <p:sp>
        <p:nvSpPr>
          <p:cNvPr id="3" name="Text 0"/>
          <p:cNvSpPr/>
          <p:nvPr>
            <p:ph idx="101" type="body" hasCustomPrompt="1"/>
          </p:nvPr>
        </p:nvSpPr>
        <p:spPr>
          <a:xfrm>
            <a:off x="822960" y="3749040"/>
            <a:ext cx="10543032" cy="1463040"/>
          </a:xfrm>
          <a:prstGeom prst="rect">
            <a:avLst/>
          </a:prstGeom>
          <a:noFill/>
          <a:ln/>
        </p:spPr>
        <p:txBody>
          <a:bodyPr wrap="square" rtlCol="0"/>
          <a:lstStyle/>
          <a:p>
            <a:pPr algn="l" indent="0" marL="0">
              <a:buNone/>
            </a:pPr>
            <a:r>
              <a:rPr lang="en-US" sz="1600" dirty="0">
                <a:solidFill>
                  <a:srgbClr val="A8B4BE"/>
                </a:solidFill>
              </a:rPr>
              <a:t>NovaCorp — standardiser puis automatiser le traitement des demandes</a:t>
            </a:r>
            <a:endParaRPr lang="en-US" sz="1600" dirty="0"/>
          </a:p>
          <a:p>
            <a:pPr algn="l" indent="0" marL="0">
              <a:buNone/>
            </a:pPr>
            <a:r>
              <a:rPr lang="en-US" sz="1600" dirty="0">
                <a:solidFill>
                  <a:srgbClr val="A8B4BE"/>
                </a:solidFill>
              </a:rPr>
              <a:t>Fil rouge M1 DFS · Ingénierie de l'automatisation</a:t>
            </a:r>
            <a:endParaRPr lang="en-US" sz="1600" dirty="0"/>
          </a:p>
        </p:txBody>
      </p:sp>
      <p:sp>
        <p:nvSpPr>
          <p:cNvPr id="4" name="Shape 2"/>
          <p:cNvSpPr/>
          <p:nvPr/>
        </p:nvSpPr>
        <p:spPr>
          <a:xfrm>
            <a:off x="822960" y="1783080"/>
            <a:ext cx="146304" cy="146304"/>
          </a:xfrm>
          <a:prstGeom prst="ellipse">
            <a:avLst/>
          </a:prstGeom>
          <a:solidFill>
            <a:srgbClr val="D98C24"/>
          </a:solidFill>
          <a:ln w="12700">
            <a:solidFill>
              <a:srgbClr val="D98C24"/>
            </a:solidFill>
            <a:prstDash val="solid"/>
          </a:ln>
        </p:spPr>
      </p:sp>
      <p:sp>
        <p:nvSpPr>
          <p:cNvPr id="5" name="Shape 3"/>
          <p:cNvSpPr/>
          <p:nvPr/>
        </p:nvSpPr>
        <p:spPr>
          <a:xfrm>
            <a:off x="1115568" y="1783080"/>
            <a:ext cx="146304" cy="146304"/>
          </a:xfrm>
          <a:prstGeom prst="ellipse">
            <a:avLst/>
          </a:prstGeom>
          <a:solidFill>
            <a:srgbClr val="2F7A4F"/>
          </a:solidFill>
          <a:ln w="12700">
            <a:solidFill>
              <a:srgbClr val="2F7A4F"/>
            </a:solidFill>
            <a:prstDash val="solid"/>
          </a:ln>
        </p:spPr>
      </p:sp>
      <p:sp>
        <p:nvSpPr>
          <p:cNvPr id="6" name="Shape 4"/>
          <p:cNvSpPr/>
          <p:nvPr/>
        </p:nvSpPr>
        <p:spPr>
          <a:xfrm>
            <a:off x="1408176" y="1783080"/>
            <a:ext cx="146304" cy="146304"/>
          </a:xfrm>
          <a:prstGeom prst="ellipse">
            <a:avLst/>
          </a:prstGeom>
          <a:solidFill>
            <a:srgbClr val="A4332C"/>
          </a:solidFill>
          <a:ln w="12700">
            <a:solidFill>
              <a:srgbClr val="A4332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Le processus manuel, chiffré</a:t>
            </a:r>
            <a:endParaRPr lang="en-US" sz="3200" dirty="0"/>
          </a:p>
        </p:txBody>
      </p:sp>
      <p:sp>
        <p:nvSpPr>
          <p:cNvPr id="3" name="card-demandes par mois"/>
          <p:cNvSpPr/>
          <p:nvPr/>
        </p:nvSpPr>
        <p:spPr>
          <a:xfrm>
            <a:off x="822960" y="1600200"/>
            <a:ext cx="1874520" cy="1600200"/>
          </a:xfrm>
          <a:prstGeom prst="roundRect">
            <a:avLst>
              <a:gd name="adj" fmla="val 3429"/>
            </a:avLst>
          </a:prstGeom>
          <a:solidFill>
            <a:schemeClr val="bg2"/>
          </a:solidFill>
          <a:ln w="12700">
            <a:solidFill>
              <a:schemeClr val="bg2"/>
            </a:solidFill>
            <a:prstDash val="solid"/>
          </a:ln>
        </p:spPr>
      </p:sp>
      <p:sp>
        <p:nvSpPr>
          <p:cNvPr id="4" name="Text 2"/>
          <p:cNvSpPr txBox="1"/>
          <p:nvPr/>
        </p:nvSpPr>
        <p:spPr>
          <a:xfrm>
            <a:off x="822960" y="1764792"/>
            <a:ext cx="1874520" cy="685800"/>
          </a:xfrm>
          <a:prstGeom prst="rect">
            <a:avLst/>
          </a:prstGeom>
          <a:noFill/>
          <a:ln/>
        </p:spPr>
        <p:txBody>
          <a:bodyPr wrap="square" lIns="0" tIns="0" rIns="0" bIns="0" rtlCol="0" anchor="ctr"/>
          <a:lstStyle/>
          <a:p>
            <a:pPr algn="ctr" indent="0" marL="0">
              <a:buNone/>
            </a:pPr>
            <a:r>
              <a:rPr lang="en-US" sz="3600" b="1" dirty="0">
                <a:solidFill>
                  <a:schemeClr val="tx1"/>
                </a:solidFill>
              </a:rPr>
              <a:t>40</a:t>
            </a:r>
            <a:endParaRPr lang="en-US" sz="3600" dirty="0"/>
          </a:p>
        </p:txBody>
      </p:sp>
      <p:sp>
        <p:nvSpPr>
          <p:cNvPr id="5" name="Text 3"/>
          <p:cNvSpPr txBox="1"/>
          <p:nvPr/>
        </p:nvSpPr>
        <p:spPr>
          <a:xfrm>
            <a:off x="932688" y="2468880"/>
            <a:ext cx="1655064" cy="548640"/>
          </a:xfrm>
          <a:prstGeom prst="rect">
            <a:avLst/>
          </a:prstGeom>
          <a:noFill/>
          <a:ln/>
        </p:spPr>
        <p:txBody>
          <a:bodyPr wrap="square" lIns="0" tIns="0" rIns="0" bIns="0" rtlCol="0" anchor="ctr"/>
          <a:lstStyle/>
          <a:p>
            <a:pPr algn="ctr" indent="0" marL="0">
              <a:buNone/>
            </a:pPr>
            <a:r>
              <a:rPr lang="en-US" sz="1100" dirty="0">
                <a:solidFill>
                  <a:schemeClr val="tx2"/>
                </a:solidFill>
              </a:rPr>
              <a:t>demandes par mois</a:t>
            </a:r>
            <a:endParaRPr lang="en-US" sz="1100" dirty="0"/>
          </a:p>
        </p:txBody>
      </p:sp>
      <p:sp>
        <p:nvSpPr>
          <p:cNvPr id="6" name="card-délai médian de décision"/>
          <p:cNvSpPr/>
          <p:nvPr/>
        </p:nvSpPr>
        <p:spPr>
          <a:xfrm>
            <a:off x="2953512" y="1600200"/>
            <a:ext cx="1874520" cy="1600200"/>
          </a:xfrm>
          <a:prstGeom prst="roundRect">
            <a:avLst>
              <a:gd name="adj" fmla="val 3429"/>
            </a:avLst>
          </a:prstGeom>
          <a:solidFill>
            <a:schemeClr val="bg2"/>
          </a:solidFill>
          <a:ln w="12700">
            <a:solidFill>
              <a:schemeClr val="bg2"/>
            </a:solidFill>
            <a:prstDash val="solid"/>
          </a:ln>
        </p:spPr>
      </p:sp>
      <p:sp>
        <p:nvSpPr>
          <p:cNvPr id="7" name="Text 5"/>
          <p:cNvSpPr txBox="1"/>
          <p:nvPr/>
        </p:nvSpPr>
        <p:spPr>
          <a:xfrm>
            <a:off x="2953512" y="1764792"/>
            <a:ext cx="1874520" cy="685800"/>
          </a:xfrm>
          <a:prstGeom prst="rect">
            <a:avLst/>
          </a:prstGeom>
          <a:noFill/>
          <a:ln/>
        </p:spPr>
        <p:txBody>
          <a:bodyPr wrap="square" lIns="0" tIns="0" rIns="0" bIns="0" rtlCol="0" anchor="ctr"/>
          <a:lstStyle/>
          <a:p>
            <a:pPr algn="ctr" indent="0" marL="0">
              <a:buNone/>
            </a:pPr>
            <a:r>
              <a:rPr lang="en-US" sz="3600" b="1" dirty="0">
                <a:solidFill>
                  <a:schemeClr val="accent1"/>
                </a:solidFill>
              </a:rPr>
              <a:t>3,2 j</a:t>
            </a:r>
            <a:endParaRPr lang="en-US" sz="3600" dirty="0"/>
          </a:p>
        </p:txBody>
      </p:sp>
      <p:sp>
        <p:nvSpPr>
          <p:cNvPr id="8" name="Text 6"/>
          <p:cNvSpPr txBox="1"/>
          <p:nvPr/>
        </p:nvSpPr>
        <p:spPr>
          <a:xfrm>
            <a:off x="3063240" y="2468880"/>
            <a:ext cx="1655064" cy="548640"/>
          </a:xfrm>
          <a:prstGeom prst="rect">
            <a:avLst/>
          </a:prstGeom>
          <a:noFill/>
          <a:ln/>
        </p:spPr>
        <p:txBody>
          <a:bodyPr wrap="square" lIns="0" tIns="0" rIns="0" bIns="0" rtlCol="0" anchor="ctr"/>
          <a:lstStyle/>
          <a:p>
            <a:pPr algn="ctr" indent="0" marL="0">
              <a:buNone/>
            </a:pPr>
            <a:r>
              <a:rPr lang="en-US" sz="1100" dirty="0">
                <a:solidFill>
                  <a:schemeClr val="tx2"/>
                </a:solidFill>
              </a:rPr>
              <a:t>délai médian de décision</a:t>
            </a:r>
            <a:endParaRPr lang="en-US" sz="1100" dirty="0"/>
          </a:p>
        </p:txBody>
      </p:sp>
      <p:sp>
        <p:nvSpPr>
          <p:cNvPr id="9" name="card-demandes à reprendre"/>
          <p:cNvSpPr/>
          <p:nvPr/>
        </p:nvSpPr>
        <p:spPr>
          <a:xfrm>
            <a:off x="5084064" y="1600200"/>
            <a:ext cx="1874520" cy="1600200"/>
          </a:xfrm>
          <a:prstGeom prst="roundRect">
            <a:avLst>
              <a:gd name="adj" fmla="val 3429"/>
            </a:avLst>
          </a:prstGeom>
          <a:solidFill>
            <a:schemeClr val="bg2"/>
          </a:solidFill>
          <a:ln w="12700">
            <a:solidFill>
              <a:schemeClr val="bg2"/>
            </a:solidFill>
            <a:prstDash val="solid"/>
          </a:ln>
        </p:spPr>
      </p:sp>
      <p:sp>
        <p:nvSpPr>
          <p:cNvPr id="10" name="Text 8"/>
          <p:cNvSpPr txBox="1"/>
          <p:nvPr/>
        </p:nvSpPr>
        <p:spPr>
          <a:xfrm>
            <a:off x="5084064" y="1764792"/>
            <a:ext cx="1874520" cy="685800"/>
          </a:xfrm>
          <a:prstGeom prst="rect">
            <a:avLst/>
          </a:prstGeom>
          <a:noFill/>
          <a:ln/>
        </p:spPr>
        <p:txBody>
          <a:bodyPr wrap="square" lIns="0" tIns="0" rIns="0" bIns="0" rtlCol="0" anchor="ctr"/>
          <a:lstStyle/>
          <a:p>
            <a:pPr algn="ctr" indent="0" marL="0">
              <a:buNone/>
            </a:pPr>
            <a:r>
              <a:rPr lang="en-US" sz="3600" b="1" dirty="0">
                <a:solidFill>
                  <a:schemeClr val="accent3"/>
                </a:solidFill>
              </a:rPr>
              <a:t>12 %</a:t>
            </a:r>
            <a:endParaRPr lang="en-US" sz="3600" dirty="0"/>
          </a:p>
        </p:txBody>
      </p:sp>
      <p:sp>
        <p:nvSpPr>
          <p:cNvPr id="11" name="Text 9"/>
          <p:cNvSpPr txBox="1"/>
          <p:nvPr/>
        </p:nvSpPr>
        <p:spPr>
          <a:xfrm>
            <a:off x="5193792" y="2468880"/>
            <a:ext cx="1655064" cy="548640"/>
          </a:xfrm>
          <a:prstGeom prst="rect">
            <a:avLst/>
          </a:prstGeom>
          <a:noFill/>
          <a:ln/>
        </p:spPr>
        <p:txBody>
          <a:bodyPr wrap="square" lIns="0" tIns="0" rIns="0" bIns="0" rtlCol="0" anchor="ctr"/>
          <a:lstStyle/>
          <a:p>
            <a:pPr algn="ctr" indent="0" marL="0">
              <a:buNone/>
            </a:pPr>
            <a:r>
              <a:rPr lang="en-US" sz="1100" dirty="0">
                <a:solidFill>
                  <a:schemeClr val="tx2"/>
                </a:solidFill>
              </a:rPr>
              <a:t>demandes à reprendre</a:t>
            </a:r>
            <a:endParaRPr lang="en-US" sz="1100" dirty="0"/>
          </a:p>
        </p:txBody>
      </p:sp>
      <p:sp>
        <p:nvSpPr>
          <p:cNvPr id="12" name="card-traçabilité des décisions"/>
          <p:cNvSpPr/>
          <p:nvPr/>
        </p:nvSpPr>
        <p:spPr>
          <a:xfrm>
            <a:off x="7214616" y="1600200"/>
            <a:ext cx="1874520" cy="1600200"/>
          </a:xfrm>
          <a:prstGeom prst="roundRect">
            <a:avLst>
              <a:gd name="adj" fmla="val 3429"/>
            </a:avLst>
          </a:prstGeom>
          <a:solidFill>
            <a:schemeClr val="bg2"/>
          </a:solidFill>
          <a:ln w="12700">
            <a:solidFill>
              <a:schemeClr val="bg2"/>
            </a:solidFill>
            <a:prstDash val="solid"/>
          </a:ln>
        </p:spPr>
      </p:sp>
      <p:sp>
        <p:nvSpPr>
          <p:cNvPr id="13" name="Text 11"/>
          <p:cNvSpPr txBox="1"/>
          <p:nvPr/>
        </p:nvSpPr>
        <p:spPr>
          <a:xfrm>
            <a:off x="7214616" y="1764792"/>
            <a:ext cx="1874520" cy="685800"/>
          </a:xfrm>
          <a:prstGeom prst="rect">
            <a:avLst/>
          </a:prstGeom>
          <a:noFill/>
          <a:ln/>
        </p:spPr>
        <p:txBody>
          <a:bodyPr wrap="square" lIns="0" tIns="0" rIns="0" bIns="0" rtlCol="0" anchor="ctr"/>
          <a:lstStyle/>
          <a:p>
            <a:pPr algn="ctr" indent="0" marL="0">
              <a:buNone/>
            </a:pPr>
            <a:r>
              <a:rPr lang="en-US" sz="3600" b="1" dirty="0">
                <a:solidFill>
                  <a:schemeClr val="accent3"/>
                </a:solidFill>
              </a:rPr>
              <a:t>0 %</a:t>
            </a:r>
            <a:endParaRPr lang="en-US" sz="3600" dirty="0"/>
          </a:p>
        </p:txBody>
      </p:sp>
      <p:sp>
        <p:nvSpPr>
          <p:cNvPr id="14" name="Text 12"/>
          <p:cNvSpPr txBox="1"/>
          <p:nvPr/>
        </p:nvSpPr>
        <p:spPr>
          <a:xfrm>
            <a:off x="7324344" y="2468880"/>
            <a:ext cx="1655064" cy="548640"/>
          </a:xfrm>
          <a:prstGeom prst="rect">
            <a:avLst/>
          </a:prstGeom>
          <a:noFill/>
          <a:ln/>
        </p:spPr>
        <p:txBody>
          <a:bodyPr wrap="square" lIns="0" tIns="0" rIns="0" bIns="0" rtlCol="0" anchor="ctr"/>
          <a:lstStyle/>
          <a:p>
            <a:pPr algn="ctr" indent="0" marL="0">
              <a:buNone/>
            </a:pPr>
            <a:r>
              <a:rPr lang="en-US" sz="1100" dirty="0">
                <a:solidFill>
                  <a:schemeClr val="tx2"/>
                </a:solidFill>
              </a:rPr>
              <a:t>traçabilité des décisions</a:t>
            </a:r>
            <a:endParaRPr lang="en-US" sz="1100" dirty="0"/>
          </a:p>
        </p:txBody>
      </p:sp>
      <p:sp>
        <p:nvSpPr>
          <p:cNvPr id="15" name="card-coût mensuel de traitement"/>
          <p:cNvSpPr/>
          <p:nvPr/>
        </p:nvSpPr>
        <p:spPr>
          <a:xfrm>
            <a:off x="9345168" y="1600200"/>
            <a:ext cx="1874520" cy="1600200"/>
          </a:xfrm>
          <a:prstGeom prst="roundRect">
            <a:avLst>
              <a:gd name="adj" fmla="val 3429"/>
            </a:avLst>
          </a:prstGeom>
          <a:solidFill>
            <a:schemeClr val="bg2"/>
          </a:solidFill>
          <a:ln w="12700">
            <a:solidFill>
              <a:schemeClr val="bg2"/>
            </a:solidFill>
            <a:prstDash val="solid"/>
          </a:ln>
        </p:spPr>
      </p:sp>
      <p:sp>
        <p:nvSpPr>
          <p:cNvPr id="16" name="Text 14"/>
          <p:cNvSpPr txBox="1"/>
          <p:nvPr/>
        </p:nvSpPr>
        <p:spPr>
          <a:xfrm>
            <a:off x="9345168" y="1764792"/>
            <a:ext cx="1874520" cy="685800"/>
          </a:xfrm>
          <a:prstGeom prst="rect">
            <a:avLst/>
          </a:prstGeom>
          <a:noFill/>
          <a:ln/>
        </p:spPr>
        <p:txBody>
          <a:bodyPr wrap="square" lIns="0" tIns="0" rIns="0" bIns="0" rtlCol="0" anchor="ctr"/>
          <a:lstStyle/>
          <a:p>
            <a:pPr algn="ctr" indent="0" marL="0">
              <a:buNone/>
            </a:pPr>
            <a:r>
              <a:rPr lang="en-US" sz="3600" b="1" dirty="0">
                <a:solidFill>
                  <a:schemeClr val="tx1"/>
                </a:solidFill>
              </a:rPr>
              <a:t>701 €</a:t>
            </a:r>
            <a:endParaRPr lang="en-US" sz="3600" dirty="0"/>
          </a:p>
        </p:txBody>
      </p:sp>
      <p:sp>
        <p:nvSpPr>
          <p:cNvPr id="17" name="Text 15"/>
          <p:cNvSpPr txBox="1"/>
          <p:nvPr/>
        </p:nvSpPr>
        <p:spPr>
          <a:xfrm>
            <a:off x="9454896" y="2468880"/>
            <a:ext cx="1655064" cy="548640"/>
          </a:xfrm>
          <a:prstGeom prst="rect">
            <a:avLst/>
          </a:prstGeom>
          <a:noFill/>
          <a:ln/>
        </p:spPr>
        <p:txBody>
          <a:bodyPr wrap="square" lIns="0" tIns="0" rIns="0" bIns="0" rtlCol="0" anchor="ctr"/>
          <a:lstStyle/>
          <a:p>
            <a:pPr algn="ctr" indent="0" marL="0">
              <a:buNone/>
            </a:pPr>
            <a:r>
              <a:rPr lang="en-US" sz="1100" dirty="0">
                <a:solidFill>
                  <a:schemeClr val="tx2"/>
                </a:solidFill>
              </a:rPr>
              <a:t>coût mensuel de traitement</a:t>
            </a:r>
            <a:endParaRPr lang="en-US" sz="1100" dirty="0"/>
          </a:p>
        </p:txBody>
      </p:sp>
      <p:sp>
        <p:nvSpPr>
          <p:cNvPr id="18" name="Text 16"/>
          <p:cNvSpPr txBox="1"/>
          <p:nvPr/>
        </p:nvSpPr>
        <p:spPr>
          <a:xfrm>
            <a:off x="822960" y="3657600"/>
            <a:ext cx="10543032" cy="1188720"/>
          </a:xfrm>
          <a:prstGeom prst="rect">
            <a:avLst/>
          </a:prstGeom>
          <a:noFill/>
          <a:ln/>
        </p:spPr>
        <p:txBody>
          <a:bodyPr wrap="square" lIns="0" tIns="0" rIns="0" bIns="0" rtlCol="0" anchor="ctr"/>
          <a:lstStyle/>
          <a:p>
            <a:pPr indent="0" marL="0">
              <a:buNone/>
            </a:pPr>
            <a:r>
              <a:rPr lang="en-US" sz="1400" b="1" dirty="0">
                <a:solidFill>
                  <a:schemeClr val="tx2"/>
                </a:solidFill>
              </a:rPr>
              <a:t>Hypothèses déclarées, pas des mesures</a:t>
            </a:r>
            <a:endParaRPr lang="en-US" sz="1400" dirty="0"/>
          </a:p>
          <a:p>
            <a:pPr indent="0" marL="0">
              <a:buNone/>
            </a:pPr>
            <a:r>
              <a:rPr lang="en-US" sz="1400" dirty="0">
                <a:solidFill>
                  <a:schemeClr val="tx2"/>
                </a:solidFill>
              </a:rPr>
              <a:t>Le processus actuel n'est pas instrumenté : aucune donnée historique n'existe. Ces chiffres sont posés en début de projet, méthode documentée, pour que la comparaison « après » reste honnête — elle, sera mesurée en SQL sur l'historique des événements.</a:t>
            </a:r>
            <a:endParaRPr lang="en-US" sz="1400" dirty="0"/>
          </a:p>
        </p:txBody>
      </p:sp>
      <p:sp>
        <p:nvSpPr>
          <p:cNvPr id="19" name="Text 17"/>
          <p:cNvSpPr txBox="1"/>
          <p:nvPr/>
        </p:nvSpPr>
        <p:spPr>
          <a:xfrm>
            <a:off x="822960" y="5029200"/>
            <a:ext cx="10543032" cy="365760"/>
          </a:xfrm>
          <a:prstGeom prst="rect">
            <a:avLst/>
          </a:prstGeom>
          <a:noFill/>
          <a:ln/>
        </p:spPr>
        <p:txBody>
          <a:bodyPr wrap="square" lIns="0" tIns="0" rIns="0" bIns="0" rtlCol="0" anchor="ctr"/>
          <a:lstStyle/>
          <a:p>
            <a:pPr indent="0" marL="0">
              <a:buNone/>
            </a:pPr>
            <a:r>
              <a:rPr lang="en-US" sz="1200" i="1" dirty="0">
                <a:solidFill>
                  <a:schemeClr val="accent6"/>
                </a:solidFill>
              </a:rPr>
              <a:t>Demandes par e-mail · recopie dans un tableur · validation par retour de mail · relances au téléphone</a:t>
            </a:r>
            <a:endParaRPr lang="en-US" sz="12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Quatre briques, un seul flux</a:t>
            </a:r>
            <a:endParaRPr lang="en-US" sz="3200" dirty="0"/>
          </a:p>
        </p:txBody>
      </p:sp>
      <p:sp>
        <p:nvSpPr>
          <p:cNvPr id="3" name="brick-Application"/>
          <p:cNvSpPr/>
          <p:nvPr/>
        </p:nvSpPr>
        <p:spPr>
          <a:xfrm>
            <a:off x="822960" y="1600200"/>
            <a:ext cx="2468880" cy="2286000"/>
          </a:xfrm>
          <a:prstGeom prst="roundRect">
            <a:avLst>
              <a:gd name="adj" fmla="val 2400"/>
            </a:avLst>
          </a:prstGeom>
          <a:solidFill>
            <a:schemeClr val="bg2"/>
          </a:solidFill>
          <a:ln w="12700">
            <a:solidFill>
              <a:schemeClr val="bg2"/>
            </a:solidFill>
            <a:prstDash val="solid"/>
          </a:ln>
        </p:spPr>
      </p:sp>
      <p:sp>
        <p:nvSpPr>
          <p:cNvPr id="4" name="Shape 2"/>
          <p:cNvSpPr/>
          <p:nvPr/>
        </p:nvSpPr>
        <p:spPr>
          <a:xfrm>
            <a:off x="1051560" y="1828800"/>
            <a:ext cx="146304" cy="146304"/>
          </a:xfrm>
          <a:prstGeom prst="ellipse">
            <a:avLst/>
          </a:prstGeom>
          <a:solidFill>
            <a:schemeClr val="accent4"/>
          </a:solidFill>
          <a:ln w="12700">
            <a:solidFill>
              <a:schemeClr val="accent4"/>
            </a:solidFill>
            <a:prstDash val="solid"/>
          </a:ln>
        </p:spPr>
      </p:sp>
      <p:sp>
        <p:nvSpPr>
          <p:cNvPr id="5" name="Text 3"/>
          <p:cNvSpPr txBox="1"/>
          <p:nvPr/>
        </p:nvSpPr>
        <p:spPr>
          <a:xfrm>
            <a:off x="1051560" y="2057400"/>
            <a:ext cx="2011680" cy="365760"/>
          </a:xfrm>
          <a:prstGeom prst="rect">
            <a:avLst/>
          </a:prstGeom>
          <a:noFill/>
          <a:ln/>
        </p:spPr>
        <p:txBody>
          <a:bodyPr wrap="square" lIns="0" tIns="0" rIns="0" bIns="0" rtlCol="0" anchor="ctr"/>
          <a:lstStyle/>
          <a:p>
            <a:pPr indent="0" marL="0">
              <a:buNone/>
            </a:pPr>
            <a:r>
              <a:rPr lang="en-US" sz="1700" b="1" dirty="0">
                <a:solidFill>
                  <a:schemeClr val="tx1"/>
                </a:solidFill>
              </a:rPr>
              <a:t>Application</a:t>
            </a:r>
            <a:endParaRPr lang="en-US" sz="1700" dirty="0"/>
          </a:p>
        </p:txBody>
      </p:sp>
      <p:sp>
        <p:nvSpPr>
          <p:cNvPr id="6" name="Text 4"/>
          <p:cNvSpPr txBox="1"/>
          <p:nvPr/>
        </p:nvSpPr>
        <p:spPr>
          <a:xfrm>
            <a:off x="1051560" y="2423160"/>
            <a:ext cx="2011680" cy="274320"/>
          </a:xfrm>
          <a:prstGeom prst="rect">
            <a:avLst/>
          </a:prstGeom>
          <a:noFill/>
          <a:ln/>
        </p:spPr>
        <p:txBody>
          <a:bodyPr wrap="square" lIns="0" tIns="0" rIns="0" bIns="0" rtlCol="0" anchor="ctr"/>
          <a:lstStyle/>
          <a:p>
            <a:pPr indent="0" marL="0">
              <a:buNone/>
            </a:pPr>
            <a:r>
              <a:rPr lang="en-US" sz="1100" dirty="0">
                <a:solidFill>
                  <a:schemeClr val="accent6"/>
                </a:solidFill>
              </a:rPr>
              <a:t>HTML + supabase-js</a:t>
            </a:r>
            <a:endParaRPr lang="en-US" sz="1100" dirty="0"/>
          </a:p>
        </p:txBody>
      </p:sp>
      <p:sp>
        <p:nvSpPr>
          <p:cNvPr id="7" name="Text 5"/>
          <p:cNvSpPr txBox="1"/>
          <p:nvPr/>
        </p:nvSpPr>
        <p:spPr>
          <a:xfrm>
            <a:off x="1051560" y="2788920"/>
            <a:ext cx="2011680" cy="914400"/>
          </a:xfrm>
          <a:prstGeom prst="rect">
            <a:avLst/>
          </a:prstGeom>
          <a:noFill/>
          <a:ln/>
        </p:spPr>
        <p:txBody>
          <a:bodyPr wrap="square" lIns="0" tIns="0" rIns="0" bIns="0" rtlCol="0" anchor="ctr"/>
          <a:lstStyle/>
          <a:p>
            <a:pPr indent="0" marL="0">
              <a:buNone/>
            </a:pPr>
            <a:r>
              <a:rPr lang="en-US" sz="1200" dirty="0">
                <a:solidFill>
                  <a:schemeClr val="tx2"/>
                </a:solidFill>
              </a:rPr>
              <a:t>Formulaire, écran de validation, tableau de bord temps réel</a:t>
            </a:r>
            <a:endParaRPr lang="en-US" sz="1200" dirty="0"/>
          </a:p>
        </p:txBody>
      </p:sp>
      <p:sp>
        <p:nvSpPr>
          <p:cNvPr id="8" name="Text 6"/>
          <p:cNvSpPr txBox="1"/>
          <p:nvPr/>
        </p:nvSpPr>
        <p:spPr>
          <a:xfrm>
            <a:off x="3310128" y="2514600"/>
            <a:ext cx="256032" cy="365760"/>
          </a:xfrm>
          <a:prstGeom prst="rect">
            <a:avLst/>
          </a:prstGeom>
          <a:noFill/>
          <a:ln/>
        </p:spPr>
        <p:txBody>
          <a:bodyPr wrap="square" lIns="0" tIns="0" rIns="0" bIns="0" rtlCol="0" anchor="ctr"/>
          <a:lstStyle/>
          <a:p>
            <a:pPr algn="ctr" indent="0" marL="0">
              <a:buNone/>
            </a:pPr>
            <a:r>
              <a:rPr lang="en-US" sz="1800" dirty="0">
                <a:solidFill>
                  <a:schemeClr val="accent6"/>
                </a:solidFill>
              </a:rPr>
              <a:t>→</a:t>
            </a:r>
            <a:endParaRPr lang="en-US" sz="1800" dirty="0"/>
          </a:p>
        </p:txBody>
      </p:sp>
      <p:sp>
        <p:nvSpPr>
          <p:cNvPr id="9" name="brick-Supabase"/>
          <p:cNvSpPr/>
          <p:nvPr/>
        </p:nvSpPr>
        <p:spPr>
          <a:xfrm>
            <a:off x="3566160" y="1600200"/>
            <a:ext cx="2468880" cy="2286000"/>
          </a:xfrm>
          <a:prstGeom prst="roundRect">
            <a:avLst>
              <a:gd name="adj" fmla="val 2400"/>
            </a:avLst>
          </a:prstGeom>
          <a:solidFill>
            <a:schemeClr val="bg2"/>
          </a:solidFill>
          <a:ln w="12700">
            <a:solidFill>
              <a:schemeClr val="bg2"/>
            </a:solidFill>
            <a:prstDash val="solid"/>
          </a:ln>
        </p:spPr>
      </p:sp>
      <p:sp>
        <p:nvSpPr>
          <p:cNvPr id="10" name="Shape 8"/>
          <p:cNvSpPr/>
          <p:nvPr/>
        </p:nvSpPr>
        <p:spPr>
          <a:xfrm>
            <a:off x="3794760" y="1828800"/>
            <a:ext cx="146304" cy="146304"/>
          </a:xfrm>
          <a:prstGeom prst="ellipse">
            <a:avLst/>
          </a:prstGeom>
          <a:solidFill>
            <a:schemeClr val="tx1"/>
          </a:solidFill>
          <a:ln w="12700">
            <a:solidFill>
              <a:schemeClr val="tx1"/>
            </a:solidFill>
            <a:prstDash val="solid"/>
          </a:ln>
        </p:spPr>
      </p:sp>
      <p:sp>
        <p:nvSpPr>
          <p:cNvPr id="11" name="Text 9"/>
          <p:cNvSpPr txBox="1"/>
          <p:nvPr/>
        </p:nvSpPr>
        <p:spPr>
          <a:xfrm>
            <a:off x="3794760" y="2057400"/>
            <a:ext cx="2011680" cy="365760"/>
          </a:xfrm>
          <a:prstGeom prst="rect">
            <a:avLst/>
          </a:prstGeom>
          <a:noFill/>
          <a:ln/>
        </p:spPr>
        <p:txBody>
          <a:bodyPr wrap="square" lIns="0" tIns="0" rIns="0" bIns="0" rtlCol="0" anchor="ctr"/>
          <a:lstStyle/>
          <a:p>
            <a:pPr indent="0" marL="0">
              <a:buNone/>
            </a:pPr>
            <a:r>
              <a:rPr lang="en-US" sz="1700" b="1" dirty="0">
                <a:solidFill>
                  <a:schemeClr val="tx1"/>
                </a:solidFill>
              </a:rPr>
              <a:t>Supabase</a:t>
            </a:r>
            <a:endParaRPr lang="en-US" sz="1700" dirty="0"/>
          </a:p>
        </p:txBody>
      </p:sp>
      <p:sp>
        <p:nvSpPr>
          <p:cNvPr id="12" name="Text 10"/>
          <p:cNvSpPr txBox="1"/>
          <p:nvPr/>
        </p:nvSpPr>
        <p:spPr>
          <a:xfrm>
            <a:off x="3794760" y="2423160"/>
            <a:ext cx="2011680" cy="274320"/>
          </a:xfrm>
          <a:prstGeom prst="rect">
            <a:avLst/>
          </a:prstGeom>
          <a:noFill/>
          <a:ln/>
        </p:spPr>
        <p:txBody>
          <a:bodyPr wrap="square" lIns="0" tIns="0" rIns="0" bIns="0" rtlCol="0" anchor="ctr"/>
          <a:lstStyle/>
          <a:p>
            <a:pPr indent="0" marL="0">
              <a:buNone/>
            </a:pPr>
            <a:r>
              <a:rPr lang="en-US" sz="1100" dirty="0">
                <a:solidFill>
                  <a:schemeClr val="accent6"/>
                </a:solidFill>
              </a:rPr>
              <a:t>PostgreSQL + RLS</a:t>
            </a:r>
            <a:endParaRPr lang="en-US" sz="1100" dirty="0"/>
          </a:p>
        </p:txBody>
      </p:sp>
      <p:sp>
        <p:nvSpPr>
          <p:cNvPr id="13" name="Text 11"/>
          <p:cNvSpPr txBox="1"/>
          <p:nvPr/>
        </p:nvSpPr>
        <p:spPr>
          <a:xfrm>
            <a:off x="3794760" y="2788920"/>
            <a:ext cx="2011680" cy="914400"/>
          </a:xfrm>
          <a:prstGeom prst="rect">
            <a:avLst/>
          </a:prstGeom>
          <a:noFill/>
          <a:ln/>
        </p:spPr>
        <p:txBody>
          <a:bodyPr wrap="square" lIns="0" tIns="0" rIns="0" bIns="0" rtlCol="0" anchor="ctr"/>
          <a:lstStyle/>
          <a:p>
            <a:pPr indent="0" marL="0">
              <a:buNone/>
            </a:pPr>
            <a:r>
              <a:rPr lang="en-US" sz="1200" dirty="0">
                <a:solidFill>
                  <a:schemeClr val="tx2"/>
                </a:solidFill>
              </a:rPr>
              <a:t>Données, droits, routage, règles métier, historique</a:t>
            </a:r>
            <a:endParaRPr lang="en-US" sz="1200" dirty="0"/>
          </a:p>
        </p:txBody>
      </p:sp>
      <p:sp>
        <p:nvSpPr>
          <p:cNvPr id="14" name="Text 12"/>
          <p:cNvSpPr txBox="1"/>
          <p:nvPr/>
        </p:nvSpPr>
        <p:spPr>
          <a:xfrm>
            <a:off x="6053328" y="2514600"/>
            <a:ext cx="256032" cy="365760"/>
          </a:xfrm>
          <a:prstGeom prst="rect">
            <a:avLst/>
          </a:prstGeom>
          <a:noFill/>
          <a:ln/>
        </p:spPr>
        <p:txBody>
          <a:bodyPr wrap="square" lIns="0" tIns="0" rIns="0" bIns="0" rtlCol="0" anchor="ctr"/>
          <a:lstStyle/>
          <a:p>
            <a:pPr algn="ctr" indent="0" marL="0">
              <a:buNone/>
            </a:pPr>
            <a:r>
              <a:rPr lang="en-US" sz="1800" dirty="0">
                <a:solidFill>
                  <a:schemeClr val="accent6"/>
                </a:solidFill>
              </a:rPr>
              <a:t>→</a:t>
            </a:r>
            <a:endParaRPr lang="en-US" sz="1800" dirty="0"/>
          </a:p>
        </p:txBody>
      </p:sp>
      <p:sp>
        <p:nvSpPr>
          <p:cNvPr id="15" name="brick-n8n"/>
          <p:cNvSpPr/>
          <p:nvPr/>
        </p:nvSpPr>
        <p:spPr>
          <a:xfrm>
            <a:off x="6309360" y="1600200"/>
            <a:ext cx="2468880" cy="2286000"/>
          </a:xfrm>
          <a:prstGeom prst="roundRect">
            <a:avLst>
              <a:gd name="adj" fmla="val 2400"/>
            </a:avLst>
          </a:prstGeom>
          <a:solidFill>
            <a:schemeClr val="bg2"/>
          </a:solidFill>
          <a:ln w="12700">
            <a:solidFill>
              <a:schemeClr val="bg2"/>
            </a:solidFill>
            <a:prstDash val="solid"/>
          </a:ln>
        </p:spPr>
      </p:sp>
      <p:sp>
        <p:nvSpPr>
          <p:cNvPr id="16" name="Shape 14"/>
          <p:cNvSpPr/>
          <p:nvPr/>
        </p:nvSpPr>
        <p:spPr>
          <a:xfrm>
            <a:off x="6537960" y="1828800"/>
            <a:ext cx="146304" cy="146304"/>
          </a:xfrm>
          <a:prstGeom prst="ellipse">
            <a:avLst/>
          </a:prstGeom>
          <a:solidFill>
            <a:schemeClr val="accent1"/>
          </a:solidFill>
          <a:ln w="12700">
            <a:solidFill>
              <a:schemeClr val="accent1"/>
            </a:solidFill>
            <a:prstDash val="solid"/>
          </a:ln>
        </p:spPr>
      </p:sp>
      <p:sp>
        <p:nvSpPr>
          <p:cNvPr id="17" name="Text 15"/>
          <p:cNvSpPr txBox="1"/>
          <p:nvPr/>
        </p:nvSpPr>
        <p:spPr>
          <a:xfrm>
            <a:off x="6537960" y="2057400"/>
            <a:ext cx="2011680" cy="365760"/>
          </a:xfrm>
          <a:prstGeom prst="rect">
            <a:avLst/>
          </a:prstGeom>
          <a:noFill/>
          <a:ln/>
        </p:spPr>
        <p:txBody>
          <a:bodyPr wrap="square" lIns="0" tIns="0" rIns="0" bIns="0" rtlCol="0" anchor="ctr"/>
          <a:lstStyle/>
          <a:p>
            <a:pPr indent="0" marL="0">
              <a:buNone/>
            </a:pPr>
            <a:r>
              <a:rPr lang="en-US" sz="1700" b="1" dirty="0">
                <a:solidFill>
                  <a:schemeClr val="tx1"/>
                </a:solidFill>
              </a:rPr>
              <a:t>n8n</a:t>
            </a:r>
            <a:endParaRPr lang="en-US" sz="1700" dirty="0"/>
          </a:p>
        </p:txBody>
      </p:sp>
      <p:sp>
        <p:nvSpPr>
          <p:cNvPr id="18" name="Text 16"/>
          <p:cNvSpPr txBox="1"/>
          <p:nvPr/>
        </p:nvSpPr>
        <p:spPr>
          <a:xfrm>
            <a:off x="6537960" y="2423160"/>
            <a:ext cx="2011680" cy="274320"/>
          </a:xfrm>
          <a:prstGeom prst="rect">
            <a:avLst/>
          </a:prstGeom>
          <a:noFill/>
          <a:ln/>
        </p:spPr>
        <p:txBody>
          <a:bodyPr wrap="square" lIns="0" tIns="0" rIns="0" bIns="0" rtlCol="0" anchor="ctr"/>
          <a:lstStyle/>
          <a:p>
            <a:pPr indent="0" marL="0">
              <a:buNone/>
            </a:pPr>
            <a:r>
              <a:rPr lang="en-US" sz="1100" dirty="0">
                <a:solidFill>
                  <a:schemeClr val="accent6"/>
                </a:solidFill>
              </a:rPr>
              <a:t>3 workflows</a:t>
            </a:r>
            <a:endParaRPr lang="en-US" sz="1100" dirty="0"/>
          </a:p>
        </p:txBody>
      </p:sp>
      <p:sp>
        <p:nvSpPr>
          <p:cNvPr id="19" name="Text 17"/>
          <p:cNvSpPr txBox="1"/>
          <p:nvPr/>
        </p:nvSpPr>
        <p:spPr>
          <a:xfrm>
            <a:off x="6537960" y="2788920"/>
            <a:ext cx="2011680" cy="914400"/>
          </a:xfrm>
          <a:prstGeom prst="rect">
            <a:avLst/>
          </a:prstGeom>
          <a:noFill/>
          <a:ln/>
        </p:spPr>
        <p:txBody>
          <a:bodyPr wrap="square" lIns="0" tIns="0" rIns="0" bIns="0" rtlCol="0" anchor="ctr"/>
          <a:lstStyle/>
          <a:p>
            <a:pPr indent="0" marL="0">
              <a:buNone/>
            </a:pPr>
            <a:r>
              <a:rPr lang="en-US" sz="1200" dirty="0">
                <a:solidFill>
                  <a:schemeClr val="tx2"/>
                </a:solidFill>
              </a:rPr>
              <a:t>Notification, changement de statut, analyse IA</a:t>
            </a:r>
            <a:endParaRPr lang="en-US" sz="1200" dirty="0"/>
          </a:p>
        </p:txBody>
      </p:sp>
      <p:sp>
        <p:nvSpPr>
          <p:cNvPr id="20" name="Text 18"/>
          <p:cNvSpPr txBox="1"/>
          <p:nvPr/>
        </p:nvSpPr>
        <p:spPr>
          <a:xfrm>
            <a:off x="8796528" y="2514600"/>
            <a:ext cx="256032" cy="365760"/>
          </a:xfrm>
          <a:prstGeom prst="rect">
            <a:avLst/>
          </a:prstGeom>
          <a:noFill/>
          <a:ln/>
        </p:spPr>
        <p:txBody>
          <a:bodyPr wrap="square" lIns="0" tIns="0" rIns="0" bIns="0" rtlCol="0" anchor="ctr"/>
          <a:lstStyle/>
          <a:p>
            <a:pPr algn="ctr" indent="0" marL="0">
              <a:buNone/>
            </a:pPr>
            <a:r>
              <a:rPr lang="en-US" sz="1800" dirty="0">
                <a:solidFill>
                  <a:schemeClr val="accent6"/>
                </a:solidFill>
              </a:rPr>
              <a:t>→</a:t>
            </a:r>
            <a:endParaRPr lang="en-US" sz="1800" dirty="0"/>
          </a:p>
        </p:txBody>
      </p:sp>
      <p:sp>
        <p:nvSpPr>
          <p:cNvPr id="21" name="brick-Agent IA"/>
          <p:cNvSpPr/>
          <p:nvPr/>
        </p:nvSpPr>
        <p:spPr>
          <a:xfrm>
            <a:off x="9052560" y="1600200"/>
            <a:ext cx="2468880" cy="2286000"/>
          </a:xfrm>
          <a:prstGeom prst="roundRect">
            <a:avLst>
              <a:gd name="adj" fmla="val 2400"/>
            </a:avLst>
          </a:prstGeom>
          <a:solidFill>
            <a:schemeClr val="bg2"/>
          </a:solidFill>
          <a:ln w="12700">
            <a:solidFill>
              <a:schemeClr val="bg2"/>
            </a:solidFill>
            <a:prstDash val="solid"/>
          </a:ln>
        </p:spPr>
      </p:sp>
      <p:sp>
        <p:nvSpPr>
          <p:cNvPr id="22" name="Shape 20"/>
          <p:cNvSpPr/>
          <p:nvPr/>
        </p:nvSpPr>
        <p:spPr>
          <a:xfrm>
            <a:off x="9281160" y="1828800"/>
            <a:ext cx="146304" cy="146304"/>
          </a:xfrm>
          <a:prstGeom prst="ellipse">
            <a:avLst/>
          </a:prstGeom>
          <a:solidFill>
            <a:schemeClr val="accent2"/>
          </a:solidFill>
          <a:ln w="12700">
            <a:solidFill>
              <a:schemeClr val="accent2"/>
            </a:solidFill>
            <a:prstDash val="solid"/>
          </a:ln>
        </p:spPr>
      </p:sp>
      <p:sp>
        <p:nvSpPr>
          <p:cNvPr id="23" name="Text 21"/>
          <p:cNvSpPr txBox="1"/>
          <p:nvPr/>
        </p:nvSpPr>
        <p:spPr>
          <a:xfrm>
            <a:off x="9281160" y="2057400"/>
            <a:ext cx="2011680" cy="365760"/>
          </a:xfrm>
          <a:prstGeom prst="rect">
            <a:avLst/>
          </a:prstGeom>
          <a:noFill/>
          <a:ln/>
        </p:spPr>
        <p:txBody>
          <a:bodyPr wrap="square" lIns="0" tIns="0" rIns="0" bIns="0" rtlCol="0" anchor="ctr"/>
          <a:lstStyle/>
          <a:p>
            <a:pPr indent="0" marL="0">
              <a:buNone/>
            </a:pPr>
            <a:r>
              <a:rPr lang="en-US" sz="1700" b="1" dirty="0">
                <a:solidFill>
                  <a:schemeClr val="tx1"/>
                </a:solidFill>
              </a:rPr>
              <a:t>Agent IA</a:t>
            </a:r>
            <a:endParaRPr lang="en-US" sz="1700" dirty="0"/>
          </a:p>
        </p:txBody>
      </p:sp>
      <p:sp>
        <p:nvSpPr>
          <p:cNvPr id="24" name="Text 22"/>
          <p:cNvSpPr txBox="1"/>
          <p:nvPr/>
        </p:nvSpPr>
        <p:spPr>
          <a:xfrm>
            <a:off x="9281160" y="2423160"/>
            <a:ext cx="2011680" cy="274320"/>
          </a:xfrm>
          <a:prstGeom prst="rect">
            <a:avLst/>
          </a:prstGeom>
          <a:noFill/>
          <a:ln/>
        </p:spPr>
        <p:txBody>
          <a:bodyPr wrap="square" lIns="0" tIns="0" rIns="0" bIns="0" rtlCol="0" anchor="ctr"/>
          <a:lstStyle/>
          <a:p>
            <a:pPr indent="0" marL="0">
              <a:buNone/>
            </a:pPr>
            <a:r>
              <a:rPr lang="en-US" sz="1100" dirty="0">
                <a:solidFill>
                  <a:schemeClr val="accent6"/>
                </a:solidFill>
              </a:rPr>
              <a:t>Mistral via API</a:t>
            </a:r>
            <a:endParaRPr lang="en-US" sz="1100" dirty="0"/>
          </a:p>
        </p:txBody>
      </p:sp>
      <p:sp>
        <p:nvSpPr>
          <p:cNvPr id="25" name="Text 23"/>
          <p:cNvSpPr txBox="1"/>
          <p:nvPr/>
        </p:nvSpPr>
        <p:spPr>
          <a:xfrm>
            <a:off x="9281160" y="2788920"/>
            <a:ext cx="2011680" cy="914400"/>
          </a:xfrm>
          <a:prstGeom prst="rect">
            <a:avLst/>
          </a:prstGeom>
          <a:noFill/>
          <a:ln/>
        </p:spPr>
        <p:txBody>
          <a:bodyPr wrap="square" lIns="0" tIns="0" rIns="0" bIns="0" rtlCol="0" anchor="ctr"/>
          <a:lstStyle/>
          <a:p>
            <a:pPr indent="0" marL="0">
              <a:buNone/>
            </a:pPr>
            <a:r>
              <a:rPr lang="en-US" sz="1200" dirty="0">
                <a:solidFill>
                  <a:schemeClr val="tx2"/>
                </a:solidFill>
              </a:rPr>
              <a:t>Synthèse en français des vérifications SQL</a:t>
            </a:r>
            <a:endParaRPr lang="en-US" sz="1200" dirty="0"/>
          </a:p>
        </p:txBody>
      </p:sp>
      <p:sp>
        <p:nvSpPr>
          <p:cNvPr id="26" name="Text 24"/>
          <p:cNvSpPr txBox="1"/>
          <p:nvPr/>
        </p:nvSpPr>
        <p:spPr>
          <a:xfrm>
            <a:off x="822960" y="4206240"/>
            <a:ext cx="10543032" cy="914400"/>
          </a:xfrm>
          <a:prstGeom prst="rect">
            <a:avLst/>
          </a:prstGeom>
          <a:noFill/>
          <a:ln/>
        </p:spPr>
        <p:txBody>
          <a:bodyPr wrap="square" lIns="0" tIns="0" rIns="0" bIns="0" rtlCol="0" anchor="ctr"/>
          <a:lstStyle/>
          <a:p>
            <a:pPr indent="0" marL="0">
              <a:buNone/>
            </a:pPr>
            <a:r>
              <a:rPr lang="en-US" sz="1400" b="1" dirty="0">
                <a:solidFill>
                  <a:schemeClr val="tx2"/>
                </a:solidFill>
              </a:rPr>
              <a:t>La base décide, n8n exécute.  </a:t>
            </a:r>
            <a:pPr indent="0" marL="0">
              <a:buNone/>
            </a:pPr>
            <a:r>
              <a:rPr lang="en-US" sz="1400" dirty="0">
                <a:solidFill>
                  <a:schemeClr val="tx2"/>
                </a:solidFill>
              </a:rPr>
              <a:t>Le routage, les droits et les calculs vivent dans PostgreSQL. n8n ne réimplémente aucune règle : il appelle des fonctions et distribue des messages. Les deux ne peuvent donc pas diverger.</a:t>
            </a:r>
            <a:endParaRPr lang="en-US" sz="14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Le routage est une donnée, pas du code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6035040" cy="914400"/>
        </p:xfrm>
        <a:graphic>
          <a:graphicData uri="http://schemas.openxmlformats.org/drawingml/2006/table">
            <a:tbl>
              <a:tblPr/>
              <a:tblGrid>
                <a:gridCol w="1371600"/>
                <a:gridCol w="1645920"/>
                <a:gridCol w="3017520"/>
              </a:tblGrid>
              <a:tr h="310896">
                <a:tc>
                  <a:txBody>
                    <a:bodyPr/>
                    <a:lstStyle/>
                    <a:p>
                      <a:pPr indent="0" marL="0">
                        <a:buNone/>
                      </a:pPr>
                      <a:r>
                        <a:rPr lang="en-US" sz="1200" b="1" dirty="0">
                          <a:solidFill>
                            <a:schemeClr val="tx1"/>
                          </a:solidFill>
                        </a:rPr>
                        <a:t>Type</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Seuil</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Circuit de validation</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rPr>
                        <a:t>Congés</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5 j</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Manager</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10896">
                <a:tc>
                  <a:txBody>
                    <a:bodyPr/>
                    <a:lstStyle/>
                    <a:p>
                      <a:pPr indent="0" marL="0">
                        <a:buNone/>
                      </a:pP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 – 15 j</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Manager → RH</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10896">
                <a:tc>
                  <a:txBody>
                    <a:bodyPr/>
                    <a:lstStyle/>
                    <a:p>
                      <a:pPr indent="0" marL="0">
                        <a:buNone/>
                      </a:pP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&gt; 15 j</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Manager → RH → DRH</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rPr>
                        <a:t>Matériel</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500 €</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Manager</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10896">
                <a:tc>
                  <a:txBody>
                    <a:bodyPr/>
                    <a:lstStyle/>
                    <a:p>
                      <a:pPr indent="0" marL="0">
                        <a:buNone/>
                      </a:pP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501 – 2 000 €</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Manager → RH</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10896">
                <a:tc>
                  <a:txBody>
                    <a:bodyPr/>
                    <a:lstStyle/>
                    <a:p>
                      <a:pPr indent="0" marL="0">
                        <a:buNone/>
                      </a:pP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&gt; 2 000 €</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Manager → RH → DRH</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7315200" y="1554480"/>
            <a:ext cx="4023360" cy="2377440"/>
          </a:xfrm>
          <a:prstGeom prst="rect">
            <a:avLst/>
          </a:prstGeom>
          <a:noFill/>
          <a:ln/>
        </p:spPr>
        <p:txBody>
          <a:bodyPr wrap="square" lIns="0" tIns="0" rIns="0" bIns="0" rtlCol="0" anchor="ctr"/>
          <a:lstStyle/>
          <a:p>
            <a:pPr indent="0" marL="0">
              <a:buNone/>
            </a:pPr>
            <a:r>
              <a:rPr lang="en-US" sz="1300" b="1" dirty="0">
                <a:solidFill>
                  <a:schemeClr val="tx1"/>
                </a:solidFill>
              </a:rPr>
              <a:t>Une règle écrite une seule fois</a:t>
            </a:r>
            <a:endParaRPr lang="en-US" sz="1300" dirty="0"/>
          </a:p>
          <a:p>
            <a:pPr indent="0" marL="0">
              <a:buNone/>
            </a:pPr>
            <a:r>
              <a:rPr lang="en-US" sz="1300" dirty="0">
                <a:solidFill>
                  <a:schemeClr val="tx2"/>
                </a:solidFill>
              </a:rPr>
              <a:t>Ces seuils sont des lignes dans une table. Une fonction SQL résout le circuit ; le formulaire, les workflows et les e-mails s'y conforment.</a:t>
            </a:r>
            <a:endParaRPr lang="en-US" sz="1300" dirty="0"/>
          </a:p>
          <a:p>
            <a:pPr indent="0" marL="0">
              <a:buNone/>
            </a:pPr>
            <a:endParaRPr lang="en-US" sz="1300" dirty="0"/>
          </a:p>
          <a:p>
            <a:pPr indent="0" marL="0">
              <a:buNone/>
            </a:pPr>
            <a:r>
              <a:rPr lang="en-US" sz="1300" b="1" dirty="0">
                <a:solidFill>
                  <a:schemeClr val="tx1"/>
                </a:solidFill>
              </a:rPr>
              <a:t>Le circuit est figé à la soumission</a:t>
            </a:r>
            <a:endParaRPr lang="en-US" sz="1300" dirty="0"/>
          </a:p>
          <a:p>
            <a:pPr indent="0" marL="0">
              <a:buNone/>
            </a:pPr>
            <a:r>
              <a:rPr lang="en-US" sz="1300" dirty="0">
                <a:solidFill>
                  <a:schemeClr val="tx2"/>
                </a:solidFill>
              </a:rPr>
              <a:t>Une demande en cours garde le circuit en vigueur le jour où elle a été déposée. Changer un seuil ne réécrit pas le passé.</a:t>
            </a:r>
            <a:endParaRPr lang="en-US" sz="1300" dirty="0"/>
          </a:p>
        </p:txBody>
      </p:sp>
      <p:sp>
        <p:nvSpPr>
          <p:cNvPr id="5" name="Text 2"/>
          <p:cNvSpPr txBox="1"/>
          <p:nvPr/>
        </p:nvSpPr>
        <p:spPr>
          <a:xfrm>
            <a:off x="822960" y="4160520"/>
            <a:ext cx="10543032" cy="365760"/>
          </a:xfrm>
          <a:prstGeom prst="rect">
            <a:avLst/>
          </a:prstGeom>
          <a:noFill/>
          <a:ln/>
        </p:spPr>
        <p:txBody>
          <a:bodyPr wrap="square" lIns="0" tIns="0" rIns="0" bIns="0" rtlCol="0" anchor="ctr"/>
          <a:lstStyle/>
          <a:p>
            <a:pPr indent="0" marL="0">
              <a:buNone/>
            </a:pPr>
            <a:r>
              <a:rPr lang="en-US" sz="1200" i="1" dirty="0">
                <a:solidFill>
                  <a:schemeClr val="accent6"/>
                </a:solidFill>
              </a:rPr>
              <a:t>11 tables · historique append-only · durée calculée en jours ouvrés, jours fériés déduits</a:t>
            </a:r>
            <a:endParaRPr lang="en-US" sz="12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Un cycle complet, sans intervention manuelle</a:t>
            </a:r>
            <a:endParaRPr lang="en-US" sz="3200" dirty="0"/>
          </a:p>
        </p:txBody>
      </p:sp>
      <p:sp>
        <p:nvSpPr>
          <p:cNvPr id="3" name="step-1"/>
          <p:cNvSpPr/>
          <p:nvPr/>
        </p:nvSpPr>
        <p:spPr>
          <a:xfrm>
            <a:off x="822960" y="1600200"/>
            <a:ext cx="457200" cy="457200"/>
          </a:xfrm>
          <a:prstGeom prst="ellipse">
            <a:avLst/>
          </a:prstGeom>
          <a:solidFill>
            <a:schemeClr val="tx1"/>
          </a:solidFill>
          <a:ln w="12700">
            <a:solidFill>
              <a:schemeClr val="tx1"/>
            </a:solidFill>
            <a:prstDash val="solid"/>
          </a:ln>
        </p:spPr>
      </p:sp>
      <p:sp>
        <p:nvSpPr>
          <p:cNvPr id="4" name="Text 2"/>
          <p:cNvSpPr txBox="1"/>
          <p:nvPr/>
        </p:nvSpPr>
        <p:spPr>
          <a:xfrm>
            <a:off x="822960" y="1664208"/>
            <a:ext cx="457200" cy="32004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463040" y="16002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Soumission</a:t>
            </a:r>
            <a:endParaRPr lang="en-US" sz="1500" dirty="0"/>
          </a:p>
        </p:txBody>
      </p:sp>
      <p:sp>
        <p:nvSpPr>
          <p:cNvPr id="6" name="Text 4"/>
          <p:cNvSpPr txBox="1"/>
          <p:nvPr/>
        </p:nvSpPr>
        <p:spPr>
          <a:xfrm>
            <a:off x="1463040" y="1947672"/>
            <a:ext cx="2743200" cy="822960"/>
          </a:xfrm>
          <a:prstGeom prst="rect">
            <a:avLst/>
          </a:prstGeom>
          <a:noFill/>
          <a:ln/>
        </p:spPr>
        <p:txBody>
          <a:bodyPr wrap="square" lIns="0" tIns="0" rIns="0" bIns="0" rtlCol="0" anchor="ctr"/>
          <a:lstStyle/>
          <a:p>
            <a:pPr indent="0" marL="0">
              <a:buNone/>
            </a:pPr>
            <a:r>
              <a:rPr lang="en-US" sz="1200" dirty="0">
                <a:solidFill>
                  <a:schemeClr val="tx2"/>
                </a:solidFill>
              </a:rPr>
              <a:t>Claire dépose une demande. Durée calculée, circuit résolu.</a:t>
            </a:r>
            <a:endParaRPr lang="en-US" sz="1200" dirty="0"/>
          </a:p>
        </p:txBody>
      </p:sp>
      <p:sp>
        <p:nvSpPr>
          <p:cNvPr id="7" name="step-2"/>
          <p:cNvSpPr/>
          <p:nvPr/>
        </p:nvSpPr>
        <p:spPr>
          <a:xfrm>
            <a:off x="4389120" y="1600200"/>
            <a:ext cx="457200" cy="457200"/>
          </a:xfrm>
          <a:prstGeom prst="ellipse">
            <a:avLst/>
          </a:prstGeom>
          <a:solidFill>
            <a:schemeClr val="tx1"/>
          </a:solidFill>
          <a:ln w="12700">
            <a:solidFill>
              <a:schemeClr val="tx1"/>
            </a:solidFill>
            <a:prstDash val="solid"/>
          </a:ln>
        </p:spPr>
      </p:sp>
      <p:sp>
        <p:nvSpPr>
          <p:cNvPr id="8" name="Text 6"/>
          <p:cNvSpPr txBox="1"/>
          <p:nvPr/>
        </p:nvSpPr>
        <p:spPr>
          <a:xfrm>
            <a:off x="4389120" y="1664208"/>
            <a:ext cx="457200" cy="32004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5029200" y="16002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Notification</a:t>
            </a:r>
            <a:endParaRPr lang="en-US" sz="1500" dirty="0"/>
          </a:p>
        </p:txBody>
      </p:sp>
      <p:sp>
        <p:nvSpPr>
          <p:cNvPr id="10" name="Text 8"/>
          <p:cNvSpPr txBox="1"/>
          <p:nvPr/>
        </p:nvSpPr>
        <p:spPr>
          <a:xfrm>
            <a:off x="5029200" y="1947672"/>
            <a:ext cx="2743200" cy="822960"/>
          </a:xfrm>
          <a:prstGeom prst="rect">
            <a:avLst/>
          </a:prstGeom>
          <a:noFill/>
          <a:ln/>
        </p:spPr>
        <p:txBody>
          <a:bodyPr wrap="square" lIns="0" tIns="0" rIns="0" bIns="0" rtlCol="0" anchor="ctr"/>
          <a:lstStyle/>
          <a:p>
            <a:pPr indent="0" marL="0">
              <a:buNone/>
            </a:pPr>
            <a:r>
              <a:rPr lang="en-US" sz="1200" dirty="0">
                <a:solidFill>
                  <a:schemeClr val="tx2"/>
                </a:solidFill>
              </a:rPr>
              <a:t>Le manager reçoit un e-mail. RH en copie si le montant l'exige.</a:t>
            </a:r>
            <a:endParaRPr lang="en-US" sz="1200" dirty="0"/>
          </a:p>
        </p:txBody>
      </p:sp>
      <p:sp>
        <p:nvSpPr>
          <p:cNvPr id="11" name="step-3"/>
          <p:cNvSpPr/>
          <p:nvPr/>
        </p:nvSpPr>
        <p:spPr>
          <a:xfrm>
            <a:off x="7955280" y="1600200"/>
            <a:ext cx="457200" cy="457200"/>
          </a:xfrm>
          <a:prstGeom prst="ellipse">
            <a:avLst/>
          </a:prstGeom>
          <a:solidFill>
            <a:schemeClr val="tx1"/>
          </a:solidFill>
          <a:ln w="12700">
            <a:solidFill>
              <a:schemeClr val="tx1"/>
            </a:solidFill>
            <a:prstDash val="solid"/>
          </a:ln>
        </p:spPr>
      </p:sp>
      <p:sp>
        <p:nvSpPr>
          <p:cNvPr id="12" name="Text 10"/>
          <p:cNvSpPr txBox="1"/>
          <p:nvPr/>
        </p:nvSpPr>
        <p:spPr>
          <a:xfrm>
            <a:off x="7955280" y="1664208"/>
            <a:ext cx="457200" cy="32004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8595360" y="16002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Analyse</a:t>
            </a:r>
            <a:endParaRPr lang="en-US" sz="1500" dirty="0"/>
          </a:p>
        </p:txBody>
      </p:sp>
      <p:sp>
        <p:nvSpPr>
          <p:cNvPr id="14" name="Text 12"/>
          <p:cNvSpPr txBox="1"/>
          <p:nvPr/>
        </p:nvSpPr>
        <p:spPr>
          <a:xfrm>
            <a:off x="8595360" y="1947672"/>
            <a:ext cx="2743200" cy="822960"/>
          </a:xfrm>
          <a:prstGeom prst="rect">
            <a:avLst/>
          </a:prstGeom>
          <a:noFill/>
          <a:ln/>
        </p:spPr>
        <p:txBody>
          <a:bodyPr wrap="square" lIns="0" tIns="0" rIns="0" bIns="0" rtlCol="0" anchor="ctr"/>
          <a:lstStyle/>
          <a:p>
            <a:pPr indent="0" marL="0">
              <a:buNone/>
            </a:pPr>
            <a:r>
              <a:rPr lang="en-US" sz="1200" dirty="0">
                <a:solidFill>
                  <a:schemeClr val="tx2"/>
                </a:solidFill>
              </a:rPr>
              <a:t>4 vérifications SQL, synthèse rédigée par le modèle.</a:t>
            </a:r>
            <a:endParaRPr lang="en-US" sz="1200" dirty="0"/>
          </a:p>
        </p:txBody>
      </p:sp>
      <p:sp>
        <p:nvSpPr>
          <p:cNvPr id="15" name="step-4"/>
          <p:cNvSpPr/>
          <p:nvPr/>
        </p:nvSpPr>
        <p:spPr>
          <a:xfrm>
            <a:off x="822960" y="3200400"/>
            <a:ext cx="457200" cy="457200"/>
          </a:xfrm>
          <a:prstGeom prst="ellipse">
            <a:avLst/>
          </a:prstGeom>
          <a:solidFill>
            <a:schemeClr val="tx1"/>
          </a:solidFill>
          <a:ln w="12700">
            <a:solidFill>
              <a:schemeClr val="tx1"/>
            </a:solidFill>
            <a:prstDash val="solid"/>
          </a:ln>
        </p:spPr>
      </p:sp>
      <p:sp>
        <p:nvSpPr>
          <p:cNvPr id="16" name="Text 14"/>
          <p:cNvSpPr txBox="1"/>
          <p:nvPr/>
        </p:nvSpPr>
        <p:spPr>
          <a:xfrm>
            <a:off x="822960" y="3264408"/>
            <a:ext cx="457200" cy="32004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463040" y="32004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Validation</a:t>
            </a:r>
            <a:endParaRPr lang="en-US" sz="1500" dirty="0"/>
          </a:p>
        </p:txBody>
      </p:sp>
      <p:sp>
        <p:nvSpPr>
          <p:cNvPr id="18" name="Text 16"/>
          <p:cNvSpPr txBox="1"/>
          <p:nvPr/>
        </p:nvSpPr>
        <p:spPr>
          <a:xfrm>
            <a:off x="1463040" y="3547872"/>
            <a:ext cx="2743200" cy="822960"/>
          </a:xfrm>
          <a:prstGeom prst="rect">
            <a:avLst/>
          </a:prstGeom>
          <a:noFill/>
          <a:ln/>
        </p:spPr>
        <p:txBody>
          <a:bodyPr wrap="square" lIns="0" tIns="0" rIns="0" bIns="0" rtlCol="0" anchor="ctr"/>
          <a:lstStyle/>
          <a:p>
            <a:pPr indent="0" marL="0">
              <a:buNone/>
            </a:pPr>
            <a:r>
              <a:rPr lang="en-US" sz="1200" dirty="0">
                <a:solidFill>
                  <a:schemeClr val="tx2"/>
                </a:solidFill>
              </a:rPr>
              <a:t>Le valideur tranche. Identité et droits vérifiés côté base.</a:t>
            </a:r>
            <a:endParaRPr lang="en-US" sz="1200" dirty="0"/>
          </a:p>
        </p:txBody>
      </p:sp>
      <p:sp>
        <p:nvSpPr>
          <p:cNvPr id="19" name="step-5"/>
          <p:cNvSpPr/>
          <p:nvPr/>
        </p:nvSpPr>
        <p:spPr>
          <a:xfrm>
            <a:off x="4389120" y="3200400"/>
            <a:ext cx="457200" cy="457200"/>
          </a:xfrm>
          <a:prstGeom prst="ellipse">
            <a:avLst/>
          </a:prstGeom>
          <a:solidFill>
            <a:schemeClr val="tx1"/>
          </a:solidFill>
          <a:ln w="12700">
            <a:solidFill>
              <a:schemeClr val="tx1"/>
            </a:solidFill>
            <a:prstDash val="solid"/>
          </a:ln>
        </p:spPr>
      </p:sp>
      <p:sp>
        <p:nvSpPr>
          <p:cNvPr id="20" name="Text 18"/>
          <p:cNvSpPr txBox="1"/>
          <p:nvPr/>
        </p:nvSpPr>
        <p:spPr>
          <a:xfrm>
            <a:off x="4389120" y="3264408"/>
            <a:ext cx="457200" cy="32004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5029200" y="32004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Suite</a:t>
            </a:r>
            <a:endParaRPr lang="en-US" sz="1500" dirty="0"/>
          </a:p>
        </p:txBody>
      </p:sp>
      <p:sp>
        <p:nvSpPr>
          <p:cNvPr id="22" name="Text 20"/>
          <p:cNvSpPr txBox="1"/>
          <p:nvPr/>
        </p:nvSpPr>
        <p:spPr>
          <a:xfrm>
            <a:off x="5029200" y="3547872"/>
            <a:ext cx="2743200" cy="822960"/>
          </a:xfrm>
          <a:prstGeom prst="rect">
            <a:avLst/>
          </a:prstGeom>
          <a:noFill/>
          <a:ln/>
        </p:spPr>
        <p:txBody>
          <a:bodyPr wrap="square" lIns="0" tIns="0" rIns="0" bIns="0" rtlCol="0" anchor="ctr"/>
          <a:lstStyle/>
          <a:p>
            <a:pPr indent="0" marL="0">
              <a:buNone/>
            </a:pPr>
            <a:r>
              <a:rPr lang="en-US" sz="1200" dirty="0">
                <a:solidFill>
                  <a:schemeClr val="tx2"/>
                </a:solidFill>
              </a:rPr>
              <a:t>Étape suivante ouverte, ou décision finale enregistrée.</a:t>
            </a:r>
            <a:endParaRPr lang="en-US" sz="1200" dirty="0"/>
          </a:p>
        </p:txBody>
      </p:sp>
      <p:sp>
        <p:nvSpPr>
          <p:cNvPr id="23" name="step-6"/>
          <p:cNvSpPr/>
          <p:nvPr/>
        </p:nvSpPr>
        <p:spPr>
          <a:xfrm>
            <a:off x="7955280" y="3200400"/>
            <a:ext cx="457200" cy="457200"/>
          </a:xfrm>
          <a:prstGeom prst="ellipse">
            <a:avLst/>
          </a:prstGeom>
          <a:solidFill>
            <a:schemeClr val="tx1"/>
          </a:solidFill>
          <a:ln w="12700">
            <a:solidFill>
              <a:schemeClr val="tx1"/>
            </a:solidFill>
            <a:prstDash val="solid"/>
          </a:ln>
        </p:spPr>
      </p:sp>
      <p:sp>
        <p:nvSpPr>
          <p:cNvPr id="24" name="Text 22"/>
          <p:cNvSpPr txBox="1"/>
          <p:nvPr/>
        </p:nvSpPr>
        <p:spPr>
          <a:xfrm>
            <a:off x="7955280" y="3264408"/>
            <a:ext cx="457200" cy="32004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8595360" y="32004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Retour</a:t>
            </a:r>
            <a:endParaRPr lang="en-US" sz="1500" dirty="0"/>
          </a:p>
        </p:txBody>
      </p:sp>
      <p:sp>
        <p:nvSpPr>
          <p:cNvPr id="26" name="Text 24"/>
          <p:cNvSpPr txBox="1"/>
          <p:nvPr/>
        </p:nvSpPr>
        <p:spPr>
          <a:xfrm>
            <a:off x="8595360" y="3547872"/>
            <a:ext cx="2743200" cy="822960"/>
          </a:xfrm>
          <a:prstGeom prst="rect">
            <a:avLst/>
          </a:prstGeom>
          <a:noFill/>
          <a:ln/>
        </p:spPr>
        <p:txBody>
          <a:bodyPr wrap="square" lIns="0" tIns="0" rIns="0" bIns="0" rtlCol="0" anchor="ctr"/>
          <a:lstStyle/>
          <a:p>
            <a:pPr indent="0" marL="0">
              <a:buNone/>
            </a:pPr>
            <a:r>
              <a:rPr lang="en-US" sz="1200" dirty="0">
                <a:solidFill>
                  <a:schemeClr val="tx2"/>
                </a:solidFill>
              </a:rPr>
              <a:t>Le demandeur est notifié. Solde et historique à jour.</a:t>
            </a:r>
            <a:endParaRPr lang="en-US" sz="1200" dirty="0"/>
          </a:p>
        </p:txBody>
      </p:sp>
      <p:sp>
        <p:nvSpPr>
          <p:cNvPr id="27" name="Text 25"/>
          <p:cNvSpPr txBox="1"/>
          <p:nvPr/>
        </p:nvSpPr>
        <p:spPr>
          <a:xfrm>
            <a:off x="822960" y="4937760"/>
            <a:ext cx="10543032" cy="365760"/>
          </a:xfrm>
          <a:prstGeom prst="rect">
            <a:avLst/>
          </a:prstGeom>
          <a:noFill/>
          <a:ln/>
        </p:spPr>
        <p:txBody>
          <a:bodyPr wrap="square" lIns="0" tIns="0" rIns="0" bIns="0" rtlCol="0" anchor="ctr"/>
          <a:lstStyle/>
          <a:p>
            <a:pPr indent="0" marL="0">
              <a:buNone/>
            </a:pPr>
            <a:r>
              <a:rPr lang="en-US" sz="1400" b="1" dirty="0">
                <a:solidFill>
                  <a:schemeClr val="accent2"/>
                </a:solidFill>
              </a:rPr>
              <a:t>Aucune étape n'attend une action humaine autre que la décision elle-même</a:t>
            </a:r>
            <a:endParaRPr lang="en-US" sz="14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Les droits sont dans la base, pas dans l'application</a:t>
            </a:r>
            <a:endParaRPr lang="en-US" sz="3200" dirty="0"/>
          </a:p>
        </p:txBody>
      </p:sp>
      <p:sp>
        <p:nvSpPr>
          <p:cNvPr id="3" name="Shape 1"/>
          <p:cNvSpPr/>
          <p:nvPr/>
        </p:nvSpPr>
        <p:spPr>
          <a:xfrm>
            <a:off x="822960" y="1645920"/>
            <a:ext cx="146304" cy="146304"/>
          </a:xfrm>
          <a:prstGeom prst="ellipse">
            <a:avLst/>
          </a:prstGeom>
          <a:solidFill>
            <a:schemeClr val="accent4"/>
          </a:solidFill>
          <a:ln w="12700">
            <a:solidFill>
              <a:schemeClr val="accent4"/>
            </a:solidFill>
            <a:prstDash val="solid"/>
          </a:ln>
        </p:spPr>
      </p:sp>
      <p:sp>
        <p:nvSpPr>
          <p:cNvPr id="4" name="Text 2"/>
          <p:cNvSpPr txBox="1"/>
          <p:nvPr/>
        </p:nvSpPr>
        <p:spPr>
          <a:xfrm>
            <a:off x="1143000" y="1554480"/>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Row Level Security sur toutes les tables</a:t>
            </a:r>
            <a:endParaRPr lang="en-US" sz="1500" dirty="0"/>
          </a:p>
        </p:txBody>
      </p:sp>
      <p:sp>
        <p:nvSpPr>
          <p:cNvPr id="5" name="Text 3"/>
          <p:cNvSpPr txBox="1"/>
          <p:nvPr/>
        </p:nvSpPr>
        <p:spPr>
          <a:xfrm>
            <a:off x="1143000" y="1883664"/>
            <a:ext cx="10058400" cy="548640"/>
          </a:xfrm>
          <a:prstGeom prst="rect">
            <a:avLst/>
          </a:prstGeom>
          <a:noFill/>
          <a:ln/>
        </p:spPr>
        <p:txBody>
          <a:bodyPr wrap="square" lIns="0" tIns="0" rIns="0" bIns="0" rtlCol="0" anchor="ctr"/>
          <a:lstStyle/>
          <a:p>
            <a:pPr indent="0" marL="0">
              <a:buNone/>
            </a:pPr>
            <a:r>
              <a:rPr lang="en-US" sz="1250" dirty="0">
                <a:solidFill>
                  <a:schemeClr val="tx2"/>
                </a:solidFill>
              </a:rPr>
              <a:t>Un salarié voit ses demandes, un manager celles de son équipe, les RH tout. La clé publique du front ne donne accès à rien par elle-même.</a:t>
            </a:r>
            <a:endParaRPr lang="en-US" sz="1250" dirty="0"/>
          </a:p>
        </p:txBody>
      </p:sp>
      <p:sp>
        <p:nvSpPr>
          <p:cNvPr id="6" name="Shape 4"/>
          <p:cNvSpPr/>
          <p:nvPr/>
        </p:nvSpPr>
        <p:spPr>
          <a:xfrm>
            <a:off x="822960" y="2670048"/>
            <a:ext cx="146304" cy="146304"/>
          </a:xfrm>
          <a:prstGeom prst="ellipse">
            <a:avLst/>
          </a:prstGeom>
          <a:solidFill>
            <a:schemeClr val="accent4"/>
          </a:solidFill>
          <a:ln w="12700">
            <a:solidFill>
              <a:schemeClr val="accent4"/>
            </a:solidFill>
            <a:prstDash val="solid"/>
          </a:ln>
        </p:spPr>
      </p:sp>
      <p:sp>
        <p:nvSpPr>
          <p:cNvPr id="7" name="Text 5"/>
          <p:cNvSpPr txBox="1"/>
          <p:nvPr/>
        </p:nvSpPr>
        <p:spPr>
          <a:xfrm>
            <a:off x="1143000" y="2578608"/>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Deux équipes dans le jeu d'essai</a:t>
            </a:r>
            <a:endParaRPr lang="en-US" sz="1500" dirty="0"/>
          </a:p>
        </p:txBody>
      </p:sp>
      <p:sp>
        <p:nvSpPr>
          <p:cNvPr id="8" name="Text 6"/>
          <p:cNvSpPr txBox="1"/>
          <p:nvPr/>
        </p:nvSpPr>
        <p:spPr>
          <a:xfrm>
            <a:off x="1143000" y="2907792"/>
            <a:ext cx="10058400" cy="548640"/>
          </a:xfrm>
          <a:prstGeom prst="rect">
            <a:avLst/>
          </a:prstGeom>
          <a:noFill/>
          <a:ln/>
        </p:spPr>
        <p:txBody>
          <a:bodyPr wrap="square" lIns="0" tIns="0" rIns="0" bIns="0" rtlCol="0" anchor="ctr"/>
          <a:lstStyle/>
          <a:p>
            <a:pPr indent="0" marL="0">
              <a:buNone/>
            </a:pPr>
            <a:r>
              <a:rPr lang="en-US" sz="1250" dirty="0">
                <a:solidFill>
                  <a:schemeClr val="tx2"/>
                </a:solidFill>
              </a:rPr>
              <a:t>Avec une seule équipe, « le manager voit son équipe » et « le manager voit tout » donnent le même résultat. La fuite inter-équipes ne serait pas visible.</a:t>
            </a:r>
            <a:endParaRPr lang="en-US" sz="1250" dirty="0"/>
          </a:p>
        </p:txBody>
      </p:sp>
      <p:sp>
        <p:nvSpPr>
          <p:cNvPr id="9" name="Shape 7"/>
          <p:cNvSpPr/>
          <p:nvPr/>
        </p:nvSpPr>
        <p:spPr>
          <a:xfrm>
            <a:off x="822960" y="3694176"/>
            <a:ext cx="146304" cy="146304"/>
          </a:xfrm>
          <a:prstGeom prst="ellipse">
            <a:avLst/>
          </a:prstGeom>
          <a:solidFill>
            <a:schemeClr val="accent4"/>
          </a:solidFill>
          <a:ln w="12700">
            <a:solidFill>
              <a:schemeClr val="accent4"/>
            </a:solidFill>
            <a:prstDash val="solid"/>
          </a:ln>
        </p:spPr>
      </p:sp>
      <p:sp>
        <p:nvSpPr>
          <p:cNvPr id="10" name="Text 8"/>
          <p:cNvSpPr txBox="1"/>
          <p:nvPr/>
        </p:nvSpPr>
        <p:spPr>
          <a:xfrm>
            <a:off x="1143000" y="3602736"/>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Déclencheurs là où RLS ne suffit pas</a:t>
            </a:r>
            <a:endParaRPr lang="en-US" sz="1500" dirty="0"/>
          </a:p>
        </p:txBody>
      </p:sp>
      <p:sp>
        <p:nvSpPr>
          <p:cNvPr id="11" name="Text 9"/>
          <p:cNvSpPr txBox="1"/>
          <p:nvPr/>
        </p:nvSpPr>
        <p:spPr>
          <a:xfrm>
            <a:off x="1143000" y="3931920"/>
            <a:ext cx="10058400" cy="548640"/>
          </a:xfrm>
          <a:prstGeom prst="rect">
            <a:avLst/>
          </a:prstGeom>
          <a:noFill/>
          <a:ln/>
        </p:spPr>
        <p:txBody>
          <a:bodyPr wrap="square" lIns="0" tIns="0" rIns="0" bIns="0" rtlCol="0" anchor="ctr"/>
          <a:lstStyle/>
          <a:p>
            <a:pPr indent="0" marL="0">
              <a:buNone/>
            </a:pPr>
            <a:r>
              <a:rPr lang="en-US" sz="1250" dirty="0">
                <a:solidFill>
                  <a:schemeClr val="tx2"/>
                </a:solidFill>
              </a:rPr>
              <a:t>n8n se connecte en service_role et contourne RLS. L'historique est rendu non modifiable par un déclencheur, qui lui s'applique à tout le monde.</a:t>
            </a:r>
            <a:endParaRPr lang="en-US" sz="1250" dirty="0"/>
          </a:p>
        </p:txBody>
      </p:sp>
      <p:sp>
        <p:nvSpPr>
          <p:cNvPr id="12" name="Shape 10"/>
          <p:cNvSpPr/>
          <p:nvPr/>
        </p:nvSpPr>
        <p:spPr>
          <a:xfrm>
            <a:off x="822960" y="4718304"/>
            <a:ext cx="146304" cy="146304"/>
          </a:xfrm>
          <a:prstGeom prst="ellipse">
            <a:avLst/>
          </a:prstGeom>
          <a:solidFill>
            <a:schemeClr val="accent4"/>
          </a:solidFill>
          <a:ln w="12700">
            <a:solidFill>
              <a:schemeClr val="accent4"/>
            </a:solidFill>
            <a:prstDash val="solid"/>
          </a:ln>
        </p:spPr>
      </p:sp>
      <p:sp>
        <p:nvSpPr>
          <p:cNvPr id="13" name="Text 11"/>
          <p:cNvSpPr txBox="1"/>
          <p:nvPr/>
        </p:nvSpPr>
        <p:spPr>
          <a:xfrm>
            <a:off x="1143000" y="4626864"/>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Secrets hors du dépôt</a:t>
            </a:r>
            <a:endParaRPr lang="en-US" sz="1500" dirty="0"/>
          </a:p>
        </p:txBody>
      </p:sp>
      <p:sp>
        <p:nvSpPr>
          <p:cNvPr id="14" name="Text 12"/>
          <p:cNvSpPr txBox="1"/>
          <p:nvPr/>
        </p:nvSpPr>
        <p:spPr>
          <a:xfrm>
            <a:off x="1143000" y="4956048"/>
            <a:ext cx="10058400" cy="548640"/>
          </a:xfrm>
          <a:prstGeom prst="rect">
            <a:avLst/>
          </a:prstGeom>
          <a:noFill/>
          <a:ln/>
        </p:spPr>
        <p:txBody>
          <a:bodyPr wrap="square" lIns="0" tIns="0" rIns="0" bIns="0" rtlCol="0" anchor="ctr"/>
          <a:lstStyle/>
          <a:p>
            <a:pPr indent="0" marL="0">
              <a:buNone/>
            </a:pPr>
            <a:r>
              <a:rPr lang="en-US" sz="1250" dirty="0">
                <a:solidFill>
                  <a:schemeClr val="tx2"/>
                </a:solidFill>
              </a:rPr>
              <a:t>Clés en variables d'environnement et identifiants chiffrés dans n8n ; les workflows exportés n'en contiennent aucun. Webhooks protégés par secret partagé.</a:t>
            </a:r>
            <a:endParaRPr lang="en-US" sz="1250" dirty="0"/>
          </a:p>
        </p:txBody>
      </p:sp>
      <p:sp>
        <p:nvSpPr>
          <p:cNvPr id="15" name="Text 13"/>
          <p:cNvSpPr txBox="1"/>
          <p:nvPr/>
        </p:nvSpPr>
        <p:spPr>
          <a:xfrm>
            <a:off x="822960" y="5760720"/>
            <a:ext cx="10543032" cy="365760"/>
          </a:xfrm>
          <a:prstGeom prst="rect">
            <a:avLst/>
          </a:prstGeom>
          <a:noFill/>
          <a:ln/>
        </p:spPr>
        <p:txBody>
          <a:bodyPr wrap="square" lIns="0" tIns="0" rIns="0" bIns="0" rtlCol="0" anchor="ctr"/>
          <a:lstStyle/>
          <a:p>
            <a:pPr indent="0" marL="0">
              <a:buNone/>
            </a:pPr>
            <a:r>
              <a:rPr lang="en-US" sz="1200" i="1" dirty="0">
                <a:solidFill>
                  <a:schemeClr val="accent6"/>
                </a:solidFill>
              </a:rPr>
              <a:t>Tests négatifs rejouables : auto-validation, manager d'une autre équipe, escalade de privilège, réécriture de l'historique</a:t>
            </a:r>
            <a:endParaRPr lang="en-US" sz="12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L'agent annote, l'humain tranche</a:t>
            </a:r>
            <a:endParaRPr lang="en-US" sz="3200" dirty="0"/>
          </a:p>
        </p:txBody>
      </p:sp>
      <p:sp>
        <p:nvSpPr>
          <p:cNvPr id="3" name="card-sql"/>
          <p:cNvSpPr/>
          <p:nvPr/>
        </p:nvSpPr>
        <p:spPr>
          <a:xfrm>
            <a:off x="822960" y="1600200"/>
            <a:ext cx="5120640" cy="2651760"/>
          </a:xfrm>
          <a:prstGeom prst="roundRect">
            <a:avLst>
              <a:gd name="adj" fmla="val 2069"/>
            </a:avLst>
          </a:prstGeom>
          <a:solidFill>
            <a:schemeClr val="bg2"/>
          </a:solidFill>
          <a:ln w="12700">
            <a:solidFill>
              <a:schemeClr val="bg2"/>
            </a:solidFill>
            <a:prstDash val="solid"/>
          </a:ln>
        </p:spPr>
      </p:sp>
      <p:sp>
        <p:nvSpPr>
          <p:cNvPr id="4" name="Text 2"/>
          <p:cNvSpPr txBox="1"/>
          <p:nvPr/>
        </p:nvSpPr>
        <p:spPr>
          <a:xfrm>
            <a:off x="1143000" y="1783080"/>
            <a:ext cx="4480560" cy="365760"/>
          </a:xfrm>
          <a:prstGeom prst="rect">
            <a:avLst/>
          </a:prstGeom>
          <a:noFill/>
          <a:ln/>
        </p:spPr>
        <p:txBody>
          <a:bodyPr wrap="square" lIns="0" tIns="0" rIns="0" bIns="0" rtlCol="0" anchor="ctr"/>
          <a:lstStyle/>
          <a:p>
            <a:pPr indent="0" marL="0">
              <a:buNone/>
            </a:pPr>
            <a:r>
              <a:rPr lang="en-US" sz="1700" b="1" dirty="0">
                <a:solidFill>
                  <a:schemeClr val="tx1"/>
                </a:solidFill>
              </a:rPr>
              <a:t>Calculé en SQL</a:t>
            </a:r>
            <a:endParaRPr lang="en-US" sz="1700" dirty="0"/>
          </a:p>
        </p:txBody>
      </p:sp>
      <p:sp>
        <p:nvSpPr>
          <p:cNvPr id="5" name="Text 3"/>
          <p:cNvSpPr txBox="1"/>
          <p:nvPr/>
        </p:nvSpPr>
        <p:spPr>
          <a:xfrm>
            <a:off x="1143000" y="2240280"/>
            <a:ext cx="448056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chemeClr val="tx2"/>
                </a:solidFill>
              </a:rPr>
              <a:t>Cohérence des dates</a:t>
            </a:r>
            <a:endParaRPr lang="en-US" sz="1300" dirty="0"/>
          </a:p>
          <a:p>
            <a:pPr marL="342900" indent="-342900">
              <a:spcAft>
                <a:spcPts val="600"/>
              </a:spcAft>
              <a:buSzPct val="100000"/>
              <a:buChar char="•"/>
            </a:pPr>
            <a:r>
              <a:rPr lang="en-US" sz="1300" dirty="0">
                <a:solidFill>
                  <a:schemeClr val="tx2"/>
                </a:solidFill>
              </a:rPr>
              <a:t>Solde de congés, demandes en attente comprises</a:t>
            </a:r>
            <a:endParaRPr lang="en-US" sz="1300" dirty="0"/>
          </a:p>
          <a:p>
            <a:pPr marL="342900" indent="-342900">
              <a:spcAft>
                <a:spcPts val="600"/>
              </a:spcAft>
              <a:buSzPct val="100000"/>
              <a:buChar char="•"/>
            </a:pPr>
            <a:r>
              <a:rPr lang="en-US" sz="1300" dirty="0">
                <a:solidFill>
                  <a:schemeClr val="tx2"/>
                </a:solidFill>
              </a:rPr>
              <a:t>Doublons sur la même période</a:t>
            </a:r>
            <a:endParaRPr lang="en-US" sz="1300" dirty="0"/>
          </a:p>
          <a:p>
            <a:pPr marL="342900" indent="-342900">
              <a:spcAft>
                <a:spcPts val="600"/>
              </a:spcAft>
              <a:buSzPct val="100000"/>
              <a:buChar char="•"/>
            </a:pPr>
            <a:r>
              <a:rPr lang="en-US" sz="1300" dirty="0">
                <a:solidFill>
                  <a:schemeClr val="tx2"/>
                </a:solidFill>
              </a:rPr>
              <a:t>Absences simultanées dans l'équipe</a:t>
            </a:r>
            <a:endParaRPr lang="en-US" sz="1300" dirty="0"/>
          </a:p>
        </p:txBody>
      </p:sp>
      <p:sp>
        <p:nvSpPr>
          <p:cNvPr id="6" name="Text 4"/>
          <p:cNvSpPr txBox="1"/>
          <p:nvPr/>
        </p:nvSpPr>
        <p:spPr>
          <a:xfrm>
            <a:off x="1143000" y="3703320"/>
            <a:ext cx="4480560" cy="320040"/>
          </a:xfrm>
          <a:prstGeom prst="rect">
            <a:avLst/>
          </a:prstGeom>
          <a:noFill/>
          <a:ln/>
        </p:spPr>
        <p:txBody>
          <a:bodyPr wrap="square" lIns="0" tIns="0" rIns="0" bIns="0" rtlCol="0" anchor="ctr"/>
          <a:lstStyle/>
          <a:p>
            <a:pPr indent="0" marL="0">
              <a:buNone/>
            </a:pPr>
            <a:r>
              <a:rPr lang="en-US" sz="1200" i="1" dirty="0">
                <a:solidFill>
                  <a:schemeClr val="accent2"/>
                </a:solidFill>
              </a:rPr>
              <a:t>Déterministe, testable, gratuit</a:t>
            </a:r>
            <a:endParaRPr lang="en-US" sz="1200" dirty="0"/>
          </a:p>
        </p:txBody>
      </p:sp>
      <p:sp>
        <p:nvSpPr>
          <p:cNvPr id="7" name="card-llm"/>
          <p:cNvSpPr/>
          <p:nvPr/>
        </p:nvSpPr>
        <p:spPr>
          <a:xfrm>
            <a:off x="6400800" y="1600200"/>
            <a:ext cx="4937760" cy="2651760"/>
          </a:xfrm>
          <a:prstGeom prst="roundRect">
            <a:avLst>
              <a:gd name="adj" fmla="val 2069"/>
            </a:avLst>
          </a:prstGeom>
          <a:solidFill>
            <a:schemeClr val="bg2"/>
          </a:solidFill>
          <a:ln w="12700">
            <a:solidFill>
              <a:schemeClr val="bg2"/>
            </a:solidFill>
            <a:prstDash val="solid"/>
          </a:ln>
        </p:spPr>
      </p:sp>
      <p:sp>
        <p:nvSpPr>
          <p:cNvPr id="8" name="Text 6"/>
          <p:cNvSpPr txBox="1"/>
          <p:nvPr/>
        </p:nvSpPr>
        <p:spPr>
          <a:xfrm>
            <a:off x="6720840" y="1783080"/>
            <a:ext cx="4297680" cy="365760"/>
          </a:xfrm>
          <a:prstGeom prst="rect">
            <a:avLst/>
          </a:prstGeom>
          <a:noFill/>
          <a:ln/>
        </p:spPr>
        <p:txBody>
          <a:bodyPr wrap="square" lIns="0" tIns="0" rIns="0" bIns="0" rtlCol="0" anchor="ctr"/>
          <a:lstStyle/>
          <a:p>
            <a:pPr indent="0" marL="0">
              <a:buNone/>
            </a:pPr>
            <a:r>
              <a:rPr lang="en-US" sz="1700" b="1" dirty="0">
                <a:solidFill>
                  <a:schemeClr val="tx1"/>
                </a:solidFill>
              </a:rPr>
              <a:t>Rédigé par le modèle</a:t>
            </a:r>
            <a:endParaRPr lang="en-US" sz="1700" dirty="0"/>
          </a:p>
        </p:txBody>
      </p:sp>
      <p:sp>
        <p:nvSpPr>
          <p:cNvPr id="9" name="Text 7"/>
          <p:cNvSpPr txBox="1"/>
          <p:nvPr/>
        </p:nvSpPr>
        <p:spPr>
          <a:xfrm>
            <a:off x="6720840" y="2240280"/>
            <a:ext cx="4297680" cy="1463040"/>
          </a:xfrm>
          <a:prstGeom prst="rect">
            <a:avLst/>
          </a:prstGeom>
          <a:noFill/>
          <a:ln/>
        </p:spPr>
        <p:txBody>
          <a:bodyPr wrap="square" lIns="0" tIns="0" rIns="0" bIns="0" rtlCol="0" anchor="ctr"/>
          <a:lstStyle/>
          <a:p>
            <a:pPr indent="0" marL="0">
              <a:buNone/>
            </a:pPr>
            <a:r>
              <a:rPr lang="en-US" sz="1300" dirty="0">
                <a:solidFill>
                  <a:schemeClr val="tx2"/>
                </a:solidFill>
              </a:rPr>
              <a:t>Le modèle ne reçoit que les conclusions des vérifications. Il ne voit aucun calcul à refaire, donc il ne peut pas se tromper sur un solde — seulement mal formuler.</a:t>
            </a:r>
            <a:endParaRPr lang="en-US" sz="1300" dirty="0"/>
          </a:p>
          <a:p>
            <a:pPr indent="0" marL="0">
              <a:buNone/>
            </a:pPr>
            <a:endParaRPr lang="en-US" sz="1300" dirty="0"/>
          </a:p>
          <a:p>
            <a:pPr indent="0" marL="0">
              <a:buNone/>
            </a:pPr>
            <a:r>
              <a:rPr lang="en-US" sz="1300" dirty="0">
                <a:solidFill>
                  <a:schemeClr val="tx2"/>
                </a:solidFill>
              </a:rPr>
              <a:t>Le prompt système lui interdit explicitement de recommander l'acceptation ou le refus.</a:t>
            </a:r>
            <a:endParaRPr lang="en-US" sz="1300" dirty="0"/>
          </a:p>
        </p:txBody>
      </p:sp>
      <p:sp>
        <p:nvSpPr>
          <p:cNvPr id="10" name="Text 8"/>
          <p:cNvSpPr txBox="1"/>
          <p:nvPr/>
        </p:nvSpPr>
        <p:spPr>
          <a:xfrm>
            <a:off x="6720840" y="3703320"/>
            <a:ext cx="4297680" cy="320040"/>
          </a:xfrm>
          <a:prstGeom prst="rect">
            <a:avLst/>
          </a:prstGeom>
          <a:noFill/>
          <a:ln/>
        </p:spPr>
        <p:txBody>
          <a:bodyPr wrap="square" lIns="0" tIns="0" rIns="0" bIns="0" rtlCol="0" anchor="ctr"/>
          <a:lstStyle/>
          <a:p>
            <a:pPr indent="0" marL="0">
              <a:buNone/>
            </a:pPr>
            <a:r>
              <a:rPr lang="en-US" sz="1200" i="1" dirty="0">
                <a:solidFill>
                  <a:schemeClr val="accent2"/>
                </a:solidFill>
              </a:rPr>
              <a:t>Sous-workflow isolé, écrit dans une seule table</a:t>
            </a:r>
            <a:endParaRPr lang="en-US" sz="1200" dirty="0"/>
          </a:p>
        </p:txBody>
      </p:sp>
      <p:sp>
        <p:nvSpPr>
          <p:cNvPr id="11" name="Text 9"/>
          <p:cNvSpPr txBox="1"/>
          <p:nvPr/>
        </p:nvSpPr>
        <p:spPr>
          <a:xfrm>
            <a:off x="822960" y="4572000"/>
            <a:ext cx="10543032" cy="914400"/>
          </a:xfrm>
          <a:prstGeom prst="rect">
            <a:avLst/>
          </a:prstGeom>
          <a:noFill/>
          <a:ln/>
        </p:spPr>
        <p:txBody>
          <a:bodyPr wrap="square" lIns="0" tIns="0" rIns="0" bIns="0" rtlCol="0" anchor="ctr"/>
          <a:lstStyle/>
          <a:p>
            <a:pPr indent="0" marL="0">
              <a:buNone/>
            </a:pPr>
            <a:r>
              <a:rPr lang="en-US" sz="1400" b="1" dirty="0">
                <a:solidFill>
                  <a:schemeClr val="tx2"/>
                </a:solidFill>
              </a:rPr>
              <a:t>RGPD, article 22.  </a:t>
            </a:r>
            <a:pPr indent="0" marL="0">
              <a:buNone/>
            </a:pPr>
            <a:r>
              <a:rPr lang="en-US" sz="1400" dirty="0">
                <a:solidFill>
                  <a:schemeClr val="tx2"/>
                </a:solidFill>
              </a:rPr>
              <a:t>Une décision produite uniquement par un traitement automatisé et affectant significativement une personne est encadrée. Refuser un congé sur l'avis d'un modèle entrerait dans ce cadre : la décision reste humaine, par construction.</a:t>
            </a:r>
            <a:endParaRPr lang="en-US" sz="14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Low-code où il apporte, code où il protège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10543032" cy="914400"/>
        </p:xfrm>
        <a:graphic>
          <a:graphicData uri="http://schemas.openxmlformats.org/drawingml/2006/table">
            <a:tbl>
              <a:tblPr/>
              <a:tblGrid>
                <a:gridCol w="2377440"/>
                <a:gridCol w="2560320"/>
                <a:gridCol w="5605272"/>
              </a:tblGrid>
              <a:tr h="384048">
                <a:tc>
                  <a:txBody>
                    <a:bodyPr/>
                    <a:lstStyle/>
                    <a:p>
                      <a:pPr indent="0" marL="0">
                        <a:buNone/>
                      </a:pPr>
                      <a:r>
                        <a:rPr lang="en-US" sz="1200" b="1" dirty="0">
                          <a:solidFill>
                            <a:schemeClr val="tx1"/>
                          </a:solidFill>
                        </a:rPr>
                        <a:t>Choix</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Retenu</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Pourquoi</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Logique métier</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SQL dans PostgreSQL</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Règles atomiques, testables, impossibles à contourner depuis le client</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Orchestration</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n8n</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Branchements, relances et e-mails changent souvent : le low-code s'y prête</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Front-end</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HTML + supabase-js</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Aucune compilation, RLS fait la sécurité, temps réel en quelques lignes</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Pas de service Python</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Assumé</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Contredirait le périmètre low-code ; c'est le point de bascule identifié</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Fournisseur LLM</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Mistral, hébergé en UE</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Coût faible et transfert hors UE évité pour des données de congés</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Déclencheurs</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Webhooks base → n8n</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 base est la source de vérité ; aucun sondage, aucune tâche planifiée inutile</a:t>
                      </a:r>
                      <a:endParaRPr lang="en-US" sz="1200" dirty="0"/>
                    </a:p>
                  </a:txBody>
                  <a:tcPr marL="91440" marR="9144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Ce que coûte le traitement, avant et après</a:t>
            </a:r>
            <a:endParaRPr lang="en-US" sz="3200" dirty="0"/>
          </a:p>
        </p:txBody>
      </p:sp>
      <p:graphicFrame>
        <p:nvGraphicFramePr>
          <p:cNvPr id="3" name="Chart 0" descr=""/>
          <p:cNvGraphicFramePr/>
          <p:nvPr/>
        </p:nvGraphicFramePr>
        <p:xfrm>
          <a:off x="822960" y="1600200"/>
          <a:ext cx="5760720" cy="30175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949440" y="1600200"/>
            <a:ext cx="4389120" cy="3291840"/>
          </a:xfrm>
          <a:prstGeom prst="rect">
            <a:avLst/>
          </a:prstGeom>
          <a:noFill/>
          <a:ln/>
        </p:spPr>
        <p:txBody>
          <a:bodyPr wrap="square" lIns="0" tIns="0" rIns="0" bIns="0" rtlCol="0" anchor="ctr"/>
          <a:lstStyle/>
          <a:p>
            <a:pPr indent="0" marL="0">
              <a:buNone/>
            </a:pPr>
            <a:r>
              <a:rPr lang="en-US" sz="1250" b="1" dirty="0">
                <a:solidFill>
                  <a:schemeClr val="tx1"/>
                </a:solidFill>
              </a:rPr>
              <a:t>Manuel : 20 h/mois</a:t>
            </a:r>
            <a:endParaRPr lang="en-US" sz="1250" dirty="0"/>
          </a:p>
          <a:p>
            <a:pPr indent="0" marL="0">
              <a:buNone/>
            </a:pPr>
            <a:r>
              <a:rPr lang="en-US" sz="1250" dirty="0">
                <a:solidFill>
                  <a:schemeClr val="tx2"/>
                </a:solidFill>
              </a:rPr>
              <a:t>13,3 h côté RH, 6,7 h côté managers, à 35 €/h chargés. Hypothèse assumée.</a:t>
            </a:r>
            <a:endParaRPr lang="en-US" sz="1250" dirty="0"/>
          </a:p>
          <a:p>
            <a:pPr indent="0" marL="0">
              <a:buNone/>
            </a:pPr>
            <a:endParaRPr lang="en-US" sz="1250" dirty="0"/>
          </a:p>
          <a:p>
            <a:pPr indent="0" marL="0">
              <a:buNone/>
            </a:pPr>
            <a:r>
              <a:rPr lang="en-US" sz="1250" b="1" dirty="0">
                <a:solidFill>
                  <a:schemeClr val="tx1"/>
                </a:solidFill>
              </a:rPr>
              <a:t>Plateforme en production</a:t>
            </a:r>
            <a:endParaRPr lang="en-US" sz="1250" dirty="0"/>
          </a:p>
          <a:p>
            <a:pPr indent="0" marL="0">
              <a:buNone/>
            </a:pPr>
            <a:r>
              <a:rPr lang="en-US" sz="1250" dirty="0">
                <a:solidFill>
                  <a:schemeClr val="tx2"/>
                </a:solidFill>
              </a:rPr>
              <a:t>Supabase Pro 25 $, hébergement n8n ~5 €, envoi d'e-mails ~15 €, modèle ~0,01 €.</a:t>
            </a:r>
            <a:endParaRPr lang="en-US" sz="1250" dirty="0"/>
          </a:p>
          <a:p>
            <a:pPr indent="0" marL="0">
              <a:buNone/>
            </a:pPr>
            <a:endParaRPr lang="en-US" sz="1250" dirty="0"/>
          </a:p>
          <a:p>
            <a:pPr indent="0" marL="0">
              <a:buNone/>
            </a:pPr>
            <a:r>
              <a:rPr lang="en-US" sz="1250" b="1" dirty="0">
                <a:solidFill>
                  <a:schemeClr val="accent2"/>
                </a:solidFill>
              </a:rPr>
              <a:t>Le modèle ne pèse rien</a:t>
            </a:r>
            <a:endParaRPr lang="en-US" sz="1250" dirty="0"/>
          </a:p>
          <a:p>
            <a:pPr indent="0" marL="0">
              <a:buNone/>
            </a:pPr>
            <a:r>
              <a:rPr lang="en-US" sz="1250" dirty="0">
                <a:solidFill>
                  <a:schemeClr val="tx2"/>
                </a:solidFill>
              </a:rPr>
              <a:t>Les vérifications étant faites en SQL, le prompt est court : le coût par demande se compte en millièmes d'euro. Les tokens réels sont enregistrés à chaque appel.</a:t>
            </a:r>
            <a:endParaRPr lang="en-US" sz="1250" dirty="0"/>
          </a:p>
        </p:txBody>
      </p:sp>
      <p:sp>
        <p:nvSpPr>
          <p:cNvPr id="5" name="Text 2"/>
          <p:cNvSpPr txBox="1"/>
          <p:nvPr/>
        </p:nvSpPr>
        <p:spPr>
          <a:xfrm>
            <a:off x="822960" y="5029200"/>
            <a:ext cx="10543032" cy="365760"/>
          </a:xfrm>
          <a:prstGeom prst="rect">
            <a:avLst/>
          </a:prstGeom>
          <a:noFill/>
          <a:ln/>
        </p:spPr>
        <p:txBody>
          <a:bodyPr wrap="square" lIns="0" tIns="0" rIns="0" bIns="0" rtlCol="0" anchor="ctr"/>
          <a:lstStyle/>
          <a:p>
            <a:pPr indent="0" marL="0">
              <a:buNone/>
            </a:pPr>
            <a:r>
              <a:rPr lang="en-US" sz="1300" i="1" dirty="0">
                <a:solidFill>
                  <a:schemeClr val="accent6"/>
                </a:solidFill>
              </a:rPr>
              <a:t>En version projet, tout tourne sur des offres gratuites : le coût réel engagé est nul.</a:t>
            </a:r>
            <a:endParaRPr lang="en-US" sz="13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3032" cy="822960"/>
          </a:xfrm>
          <a:prstGeom prst="rect">
            <a:avLst/>
          </a:prstGeom>
          <a:noFill/>
          <a:ln/>
        </p:spPr>
        <p:txBody>
          <a:bodyPr wrap="square" rtlCol="0"/>
          <a:lstStyle/>
          <a:p>
            <a:pPr algn="l" indent="0" marL="0">
              <a:buNone/>
            </a:pPr>
            <a:r>
              <a:rPr lang="en-US" sz="3200" b="1" dirty="0">
                <a:solidFill>
                  <a:schemeClr val="tx1"/>
                </a:solidFill>
              </a:rPr>
              <a:t>Ce que je referais autrement à cent fois le volume</a:t>
            </a:r>
            <a:endParaRPr lang="en-US" sz="3200" dirty="0"/>
          </a:p>
        </p:txBody>
      </p:sp>
      <p:sp>
        <p:nvSpPr>
          <p:cNvPr id="3" name="Shape 1"/>
          <p:cNvSpPr/>
          <p:nvPr/>
        </p:nvSpPr>
        <p:spPr>
          <a:xfrm>
            <a:off x="822960" y="1645920"/>
            <a:ext cx="146304" cy="146304"/>
          </a:xfrm>
          <a:prstGeom prst="ellipse">
            <a:avLst/>
          </a:prstGeom>
          <a:solidFill>
            <a:schemeClr val="accent1"/>
          </a:solidFill>
          <a:ln w="12700">
            <a:solidFill>
              <a:schemeClr val="accent1"/>
            </a:solidFill>
            <a:prstDash val="solid"/>
          </a:ln>
        </p:spPr>
      </p:sp>
      <p:sp>
        <p:nvSpPr>
          <p:cNvPr id="4" name="Text 2"/>
          <p:cNvSpPr txBox="1"/>
          <p:nvPr/>
        </p:nvSpPr>
        <p:spPr>
          <a:xfrm>
            <a:off x="1143000" y="1554480"/>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Fiabilité des notifications</a:t>
            </a:r>
            <a:endParaRPr lang="en-US" sz="1500" dirty="0"/>
          </a:p>
        </p:txBody>
      </p:sp>
      <p:sp>
        <p:nvSpPr>
          <p:cNvPr id="5" name="Text 3"/>
          <p:cNvSpPr txBox="1"/>
          <p:nvPr/>
        </p:nvSpPr>
        <p:spPr>
          <a:xfrm>
            <a:off x="1143000" y="1883664"/>
            <a:ext cx="10058400" cy="640080"/>
          </a:xfrm>
          <a:prstGeom prst="rect">
            <a:avLst/>
          </a:prstGeom>
          <a:noFill/>
          <a:ln/>
        </p:spPr>
        <p:txBody>
          <a:bodyPr wrap="square" lIns="0" tIns="0" rIns="0" bIns="0" rtlCol="0" anchor="ctr"/>
          <a:lstStyle/>
          <a:p>
            <a:pPr indent="0" marL="0">
              <a:buNone/>
            </a:pPr>
            <a:r>
              <a:rPr lang="en-US" sz="1250" dirty="0">
                <a:solidFill>
                  <a:schemeClr val="tx2"/>
                </a:solidFill>
              </a:rPr>
              <a:t>Les webhooks de la base partent sans réessai : si n8n est arrêté, le message est perdu sans erreur. Un balayage planifié rattraperait les demandes sans événement de notification.</a:t>
            </a:r>
            <a:endParaRPr lang="en-US" sz="1250" dirty="0"/>
          </a:p>
        </p:txBody>
      </p:sp>
      <p:sp>
        <p:nvSpPr>
          <p:cNvPr id="6" name="Shape 4"/>
          <p:cNvSpPr/>
          <p:nvPr/>
        </p:nvSpPr>
        <p:spPr>
          <a:xfrm>
            <a:off x="822960" y="2724912"/>
            <a:ext cx="146304" cy="146304"/>
          </a:xfrm>
          <a:prstGeom prst="ellipse">
            <a:avLst/>
          </a:prstGeom>
          <a:solidFill>
            <a:schemeClr val="accent1"/>
          </a:solidFill>
          <a:ln w="12700">
            <a:solidFill>
              <a:schemeClr val="accent1"/>
            </a:solidFill>
            <a:prstDash val="solid"/>
          </a:ln>
        </p:spPr>
      </p:sp>
      <p:sp>
        <p:nvSpPr>
          <p:cNvPr id="7" name="Text 5"/>
          <p:cNvSpPr txBox="1"/>
          <p:nvPr/>
        </p:nvSpPr>
        <p:spPr>
          <a:xfrm>
            <a:off x="1143000" y="2633472"/>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Supervision et alertes</a:t>
            </a:r>
            <a:endParaRPr lang="en-US" sz="1500" dirty="0"/>
          </a:p>
        </p:txBody>
      </p:sp>
      <p:sp>
        <p:nvSpPr>
          <p:cNvPr id="8" name="Text 6"/>
          <p:cNvSpPr txBox="1"/>
          <p:nvPr/>
        </p:nvSpPr>
        <p:spPr>
          <a:xfrm>
            <a:off x="1143000" y="2962656"/>
            <a:ext cx="10058400" cy="640080"/>
          </a:xfrm>
          <a:prstGeom prst="rect">
            <a:avLst/>
          </a:prstGeom>
          <a:noFill/>
          <a:ln/>
        </p:spPr>
        <p:txBody>
          <a:bodyPr wrap="square" lIns="0" tIns="0" rIns="0" bIns="0" rtlCol="0" anchor="ctr"/>
          <a:lstStyle/>
          <a:p>
            <a:pPr indent="0" marL="0">
              <a:buNone/>
            </a:pPr>
            <a:r>
              <a:rPr lang="en-US" sz="1250" dirty="0">
                <a:solidFill>
                  <a:schemeClr val="tx2"/>
                </a:solidFill>
              </a:rPr>
              <a:t>Les exécutions sont visibles dans n8n, mais rien n'alerte en cas d'échec. Un workflow d'erreur est la première chose à ajouter.</a:t>
            </a:r>
            <a:endParaRPr lang="en-US" sz="1250" dirty="0"/>
          </a:p>
        </p:txBody>
      </p:sp>
      <p:sp>
        <p:nvSpPr>
          <p:cNvPr id="9" name="Shape 7"/>
          <p:cNvSpPr/>
          <p:nvPr/>
        </p:nvSpPr>
        <p:spPr>
          <a:xfrm>
            <a:off x="822960" y="3803904"/>
            <a:ext cx="146304" cy="146304"/>
          </a:xfrm>
          <a:prstGeom prst="ellipse">
            <a:avLst/>
          </a:prstGeom>
          <a:solidFill>
            <a:schemeClr val="accent1"/>
          </a:solidFill>
          <a:ln w="12700">
            <a:solidFill>
              <a:schemeClr val="accent1"/>
            </a:solidFill>
            <a:prstDash val="solid"/>
          </a:ln>
        </p:spPr>
      </p:sp>
      <p:sp>
        <p:nvSpPr>
          <p:cNvPr id="10" name="Text 8"/>
          <p:cNvSpPr txBox="1"/>
          <p:nvPr/>
        </p:nvSpPr>
        <p:spPr>
          <a:xfrm>
            <a:off x="1143000" y="3712464"/>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Hébergement</a:t>
            </a:r>
            <a:endParaRPr lang="en-US" sz="1500" dirty="0"/>
          </a:p>
        </p:txBody>
      </p:sp>
      <p:sp>
        <p:nvSpPr>
          <p:cNvPr id="11" name="Text 9"/>
          <p:cNvSpPr txBox="1"/>
          <p:nvPr/>
        </p:nvSpPr>
        <p:spPr>
          <a:xfrm>
            <a:off x="1143000" y="4041648"/>
            <a:ext cx="10058400" cy="640080"/>
          </a:xfrm>
          <a:prstGeom prst="rect">
            <a:avLst/>
          </a:prstGeom>
          <a:noFill/>
          <a:ln/>
        </p:spPr>
        <p:txBody>
          <a:bodyPr wrap="square" lIns="0" tIns="0" rIns="0" bIns="0" rtlCol="0" anchor="ctr"/>
          <a:lstStyle/>
          <a:p>
            <a:pPr indent="0" marL="0">
              <a:buNone/>
            </a:pPr>
            <a:r>
              <a:rPr lang="en-US" sz="1250" dirty="0">
                <a:solidFill>
                  <a:schemeClr val="tx2"/>
                </a:solidFill>
              </a:rPr>
              <a:t>La base et l'authentification sont hébergées ; n8n tourne en local derrière un tunnel. Un petit VPS suffirait à sortir le système de ma machine.</a:t>
            </a:r>
            <a:endParaRPr lang="en-US" sz="1250" dirty="0"/>
          </a:p>
        </p:txBody>
      </p:sp>
      <p:sp>
        <p:nvSpPr>
          <p:cNvPr id="12" name="Shape 10"/>
          <p:cNvSpPr/>
          <p:nvPr/>
        </p:nvSpPr>
        <p:spPr>
          <a:xfrm>
            <a:off x="822960" y="4882896"/>
            <a:ext cx="146304" cy="146304"/>
          </a:xfrm>
          <a:prstGeom prst="ellipse">
            <a:avLst/>
          </a:prstGeom>
          <a:solidFill>
            <a:schemeClr val="accent4"/>
          </a:solidFill>
          <a:ln w="12700">
            <a:solidFill>
              <a:schemeClr val="accent4"/>
            </a:solidFill>
            <a:prstDash val="solid"/>
          </a:ln>
        </p:spPr>
      </p:sp>
      <p:sp>
        <p:nvSpPr>
          <p:cNvPr id="13" name="Text 11"/>
          <p:cNvSpPr txBox="1"/>
          <p:nvPr/>
        </p:nvSpPr>
        <p:spPr>
          <a:xfrm>
            <a:off x="1143000" y="4791456"/>
            <a:ext cx="10058400" cy="320040"/>
          </a:xfrm>
          <a:prstGeom prst="rect">
            <a:avLst/>
          </a:prstGeom>
          <a:noFill/>
          <a:ln/>
        </p:spPr>
        <p:txBody>
          <a:bodyPr wrap="square" lIns="0" tIns="0" rIns="0" bIns="0" rtlCol="0" anchor="ctr"/>
          <a:lstStyle/>
          <a:p>
            <a:pPr indent="0" marL="0">
              <a:buNone/>
            </a:pPr>
            <a:r>
              <a:rPr lang="en-US" sz="1500" b="1" dirty="0">
                <a:solidFill>
                  <a:schemeClr val="tx1"/>
                </a:solidFill>
              </a:rPr>
              <a:t>Bascule vers du code</a:t>
            </a:r>
            <a:endParaRPr lang="en-US" sz="1500" dirty="0"/>
          </a:p>
        </p:txBody>
      </p:sp>
      <p:sp>
        <p:nvSpPr>
          <p:cNvPr id="14" name="Text 12"/>
          <p:cNvSpPr txBox="1"/>
          <p:nvPr/>
        </p:nvSpPr>
        <p:spPr>
          <a:xfrm>
            <a:off x="1143000" y="5120640"/>
            <a:ext cx="10058400" cy="640080"/>
          </a:xfrm>
          <a:prstGeom prst="rect">
            <a:avLst/>
          </a:prstGeom>
          <a:noFill/>
          <a:ln/>
        </p:spPr>
        <p:txBody>
          <a:bodyPr wrap="square" lIns="0" tIns="0" rIns="0" bIns="0" rtlCol="0" anchor="ctr"/>
          <a:lstStyle/>
          <a:p>
            <a:pPr indent="0" marL="0">
              <a:buNone/>
            </a:pPr>
            <a:r>
              <a:rPr lang="en-US" sz="1250" dirty="0">
                <a:solidFill>
                  <a:schemeClr val="tx2"/>
                </a:solidFill>
              </a:rPr>
              <a:t>Le circuit de validation est la partie critique : c'est elle que je réécrirais en service dédié, avec une file de messages, des réessais et des tests automatisés.</a:t>
            </a:r>
            <a:endParaRPr lang="en-US" sz="1250" dirty="0"/>
          </a:p>
        </p:txBody>
      </p:sp>
      <p:sp>
        <p:nvSpPr>
          <p:cNvPr id="15" name="Text 13"/>
          <p:cNvSpPr txBox="1"/>
          <p:nvPr/>
        </p:nvSpPr>
        <p:spPr>
          <a:xfrm>
            <a:off x="822960" y="5852160"/>
            <a:ext cx="10543032" cy="365760"/>
          </a:xfrm>
          <a:prstGeom prst="rect">
            <a:avLst/>
          </a:prstGeom>
          <a:noFill/>
          <a:ln/>
        </p:spPr>
        <p:txBody>
          <a:bodyPr wrap="square" lIns="0" tIns="0" rIns="0" bIns="0" rtlCol="0" anchor="ctr"/>
          <a:lstStyle/>
          <a:p>
            <a:pPr indent="0" marL="0">
              <a:buNone/>
            </a:pPr>
            <a:r>
              <a:rPr lang="en-US" sz="1200" i="1" dirty="0">
                <a:solidFill>
                  <a:schemeClr val="accent6"/>
                </a:solidFill>
              </a:rPr>
              <a:t>Limites connues également documentées : jours fériés saisis jusqu'en 2027, congés à cheval sur le 31 décembre rattachés à l'année de début</a:t>
            </a:r>
            <a:endParaRPr lang="en-US" sz="1200" dirty="0"/>
          </a:p>
        </p:txBody>
      </p:sp>
      <p:sp>
        <p:nvSpPr>
          <p:cNvPr id="25" name="Slide Number Placeholder 0"/>
          <p:cNvSpPr>
            <a:spLocks noGrp="1"/>
          </p:cNvSpPr>
          <p:nvPr>
            <p:ph type="sldNum" sz="quarter" idx="4294967295"/>
          </p:nvPr>
        </p:nvSpPr>
        <p:spPr>
          <a:xfrm>
            <a:off x="11274552" y="63550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43032" cy="1371600"/>
          </a:xfrm>
          <a:prstGeom prst="rect">
            <a:avLst/>
          </a:prstGeom>
          <a:noFill/>
          <a:ln/>
        </p:spPr>
        <p:txBody>
          <a:bodyPr wrap="square" rtlCol="0"/>
          <a:lstStyle/>
          <a:p>
            <a:pPr algn="l" indent="0" marL="0">
              <a:buNone/>
            </a:pPr>
            <a:r>
              <a:rPr lang="en-US" sz="4000" b="1" dirty="0">
                <a:solidFill>
                  <a:schemeClr val="bg1"/>
                </a:solidFill>
              </a:rPr>
              <a:t>De trois jours à quelques minutes</a:t>
            </a:r>
            <a:endParaRPr lang="en-US" sz="4000" dirty="0"/>
          </a:p>
        </p:txBody>
      </p:sp>
      <p:sp>
        <p:nvSpPr>
          <p:cNvPr id="3" name="Text 0"/>
          <p:cNvSpPr/>
          <p:nvPr>
            <p:ph idx="101" type="body" hasCustomPrompt="1"/>
          </p:nvPr>
        </p:nvSpPr>
        <p:spPr>
          <a:xfrm>
            <a:off x="822960" y="3749040"/>
            <a:ext cx="10543032" cy="1463040"/>
          </a:xfrm>
          <a:prstGeom prst="rect">
            <a:avLst/>
          </a:prstGeom>
          <a:noFill/>
          <a:ln/>
        </p:spPr>
        <p:txBody>
          <a:bodyPr wrap="square" rtlCol="0"/>
          <a:lstStyle/>
          <a:p>
            <a:pPr algn="l" indent="0" marL="0">
              <a:buNone/>
            </a:pPr>
            <a:r>
              <a:rPr lang="en-US" sz="1600" dirty="0">
                <a:solidFill>
                  <a:srgbClr val="A8B4BE"/>
                </a:solidFill>
              </a:rPr>
              <a:t>Chaîne complète démontrable · routage par les données · droits vérifiés côté base · décision humaine garantie</a:t>
            </a:r>
            <a:endParaRPr lang="en-US" sz="1600" dirty="0"/>
          </a:p>
          <a:p>
            <a:pPr algn="l" indent="0" marL="0">
              <a:buNone/>
            </a:pPr>
            <a:r>
              <a:rPr lang="en-US" sz="1600" dirty="0">
                <a:solidFill>
                  <a:srgbClr val="A8B4BE"/>
                </a:solidFill>
              </a:rPr>
              <a:t>Merci — questions ?</a:t>
            </a:r>
            <a:endParaRPr lang="en-US" sz="1600" dirty="0"/>
          </a:p>
        </p:txBody>
      </p:sp>
      <p:sp>
        <p:nvSpPr>
          <p:cNvPr id="4" name="Shape 2"/>
          <p:cNvSpPr/>
          <p:nvPr/>
        </p:nvSpPr>
        <p:spPr>
          <a:xfrm>
            <a:off x="822960" y="1783080"/>
            <a:ext cx="146304" cy="146304"/>
          </a:xfrm>
          <a:prstGeom prst="ellipse">
            <a:avLst/>
          </a:prstGeom>
          <a:solidFill>
            <a:srgbClr val="D98C24"/>
          </a:solidFill>
          <a:ln w="12700">
            <a:solidFill>
              <a:srgbClr val="D98C24"/>
            </a:solidFill>
            <a:prstDash val="solid"/>
          </a:ln>
        </p:spPr>
      </p:sp>
      <p:sp>
        <p:nvSpPr>
          <p:cNvPr id="5" name="Shape 3"/>
          <p:cNvSpPr/>
          <p:nvPr/>
        </p:nvSpPr>
        <p:spPr>
          <a:xfrm>
            <a:off x="1115568" y="1783080"/>
            <a:ext cx="146304" cy="146304"/>
          </a:xfrm>
          <a:prstGeom prst="ellipse">
            <a:avLst/>
          </a:prstGeom>
          <a:solidFill>
            <a:srgbClr val="2F7A4F"/>
          </a:solidFill>
          <a:ln w="12700">
            <a:solidFill>
              <a:srgbClr val="2F7A4F"/>
            </a:solidFill>
            <a:prstDash val="solid"/>
          </a:ln>
        </p:spPr>
      </p:sp>
      <p:sp>
        <p:nvSpPr>
          <p:cNvPr id="6" name="Shape 4"/>
          <p:cNvSpPr/>
          <p:nvPr/>
        </p:nvSpPr>
        <p:spPr>
          <a:xfrm>
            <a:off x="1408176" y="1783080"/>
            <a:ext cx="146304" cy="146304"/>
          </a:xfrm>
          <a:prstGeom prst="ellipse">
            <a:avLst/>
          </a:prstGeom>
          <a:solidFill>
            <a:srgbClr val="A4332C"/>
          </a:solidFill>
          <a:ln w="12700">
            <a:solidFill>
              <a:srgbClr val="A4332C"/>
            </a:solidFill>
            <a:prstDash val="solid"/>
          </a:ln>
        </p:spPr>
      </p:sp>
    </p:spTree>
  </p:cSld>
  <p:clrMapOvr>
    <a:masterClrMapping/>
  </p:clrMapOvr>
</p:sld>
</file>

<file path=ppt/theme/theme1.xml><?xml version="1.0" encoding="utf-8"?>
<a:theme xmlns:a="http://schemas.openxmlformats.org/drawingml/2006/main" name="NovaCorp RH">
  <a:themeElements>
    <a:clrScheme name="NovaCorp RH">
      <a:dk1>
        <a:srgbClr val="152B3A"/>
      </a:dk1>
      <a:lt1>
        <a:srgbClr val="FFFFFF"/>
      </a:lt1>
      <a:dk2>
        <a:srgbClr val="4A5A68"/>
      </a:dk2>
      <a:lt2>
        <a:srgbClr val="EEF1F3"/>
      </a:lt2>
      <a:accent1>
        <a:srgbClr val="D98C24"/>
      </a:accent1>
      <a:accent2>
        <a:srgbClr val="2F7A4F"/>
      </a:accent2>
      <a:accent3>
        <a:srgbClr val="A4332C"/>
      </a:accent3>
      <a:accent4>
        <a:srgbClr val="2F5D8A"/>
      </a:accent4>
      <a:accent5>
        <a:srgbClr val="4A5A68"/>
      </a:accent5>
      <a:accent6>
        <a:srgbClr val="8C96A0"/>
      </a:accent6>
      <a:hlink>
        <a:srgbClr val="2F5D8A"/>
      </a:hlink>
      <a:folHlink>
        <a:srgbClr val="8C96A0"/>
      </a:folHlink>
    </a:clrScheme>
    <a:fontScheme name="NovaCorp R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de gestion des demandes RH</dc:title>
  <dc:subject>PptxGenJS Presentation</dc:subject>
  <dc:creator>Zara</dc:creator>
  <cp:lastModifiedBy>Zara</cp:lastModifiedBy>
  <cp:revision>1</cp:revision>
  <dcterms:created xsi:type="dcterms:W3CDTF">2026-10-28T14:02:37Z</dcterms:created>
  <dcterms:modified xsi:type="dcterms:W3CDTF">2026-10-28T14:02:37Z</dcterms:modified>
</cp:coreProperties>
</file>